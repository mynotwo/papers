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1"/>
  </p:notesMasterIdLst>
  <p:handoutMasterIdLst>
    <p:handoutMasterId r:id="rId12"/>
  </p:handoutMasterIdLst>
  <p:sldIdLst>
    <p:sldId id="432" r:id="rId2"/>
    <p:sldId id="433" r:id="rId3"/>
    <p:sldId id="434" r:id="rId4"/>
    <p:sldId id="373" r:id="rId5"/>
    <p:sldId id="366" r:id="rId6"/>
    <p:sldId id="368" r:id="rId7"/>
    <p:sldId id="436" r:id="rId8"/>
    <p:sldId id="437" r:id="rId9"/>
    <p:sldId id="438" r:id="rId10"/>
  </p:sldIdLst>
  <p:sldSz cx="9144000" cy="6858000" type="screen4x3"/>
  <p:notesSz cx="7010400" cy="92360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8283B4"/>
    <a:srgbClr val="66FFFF"/>
    <a:srgbClr val="FF00FF"/>
    <a:srgbClr val="9933FF"/>
    <a:srgbClr val="39275B"/>
    <a:srgbClr val="666633"/>
    <a:srgbClr val="3333FF"/>
    <a:srgbClr val="443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 autoAdjust="0"/>
    <p:restoredTop sz="88141" autoAdjust="0"/>
  </p:normalViewPr>
  <p:slideViewPr>
    <p:cSldViewPr>
      <p:cViewPr varScale="1">
        <p:scale>
          <a:sx n="64" d="100"/>
          <a:sy n="64" d="100"/>
        </p:scale>
        <p:origin x="7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2994" y="-96"/>
      </p:cViewPr>
      <p:guideLst>
        <p:guide orient="horz" pos="2909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388" cy="462488"/>
          </a:xfrm>
          <a:prstGeom prst="rect">
            <a:avLst/>
          </a:prstGeom>
        </p:spPr>
        <p:txBody>
          <a:bodyPr vert="horz" lIns="94073" tIns="47037" rIns="94073" bIns="47037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971318" y="1"/>
            <a:ext cx="3037388" cy="462488"/>
          </a:xfrm>
          <a:prstGeom prst="rect">
            <a:avLst/>
          </a:prstGeom>
        </p:spPr>
        <p:txBody>
          <a:bodyPr vert="horz" lIns="94073" tIns="47037" rIns="94073" bIns="47037" rtlCol="0"/>
          <a:lstStyle>
            <a:lvl1pPr algn="r">
              <a:defRPr sz="1200"/>
            </a:lvl1pPr>
          </a:lstStyle>
          <a:p>
            <a:fld id="{97FFD74C-21CF-4FDD-9B8E-BD11E64C23AD}" type="datetimeFigureOut">
              <a:rPr lang="zh-TW" altLang="en-US" smtClean="0"/>
              <a:pPr/>
              <a:t>2015/11/4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8772065"/>
            <a:ext cx="3037388" cy="462488"/>
          </a:xfrm>
          <a:prstGeom prst="rect">
            <a:avLst/>
          </a:prstGeom>
        </p:spPr>
        <p:txBody>
          <a:bodyPr vert="horz" lIns="94073" tIns="47037" rIns="94073" bIns="47037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971318" y="8772065"/>
            <a:ext cx="3037388" cy="462488"/>
          </a:xfrm>
          <a:prstGeom prst="rect">
            <a:avLst/>
          </a:prstGeom>
        </p:spPr>
        <p:txBody>
          <a:bodyPr vert="horz" lIns="94073" tIns="47037" rIns="94073" bIns="47037" rtlCol="0" anchor="b"/>
          <a:lstStyle>
            <a:lvl1pPr algn="r">
              <a:defRPr sz="1200"/>
            </a:lvl1pPr>
          </a:lstStyle>
          <a:p>
            <a:fld id="{FE028D0D-24A7-46FF-90BD-21302AD191B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711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5"/>
          </a:xfrm>
          <a:prstGeom prst="rect">
            <a:avLst/>
          </a:prstGeom>
        </p:spPr>
        <p:txBody>
          <a:bodyPr vert="horz" lIns="94073" tIns="47037" rIns="94073" bIns="47037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5"/>
          </a:xfrm>
          <a:prstGeom prst="rect">
            <a:avLst/>
          </a:prstGeom>
        </p:spPr>
        <p:txBody>
          <a:bodyPr vert="horz" lIns="94073" tIns="47037" rIns="94073" bIns="47037" rtlCol="0"/>
          <a:lstStyle>
            <a:lvl1pPr algn="r">
              <a:defRPr sz="1200"/>
            </a:lvl1pPr>
          </a:lstStyle>
          <a:p>
            <a:fld id="{717002D1-6FDD-4808-BAA9-890B532BD282}" type="datetimeFigureOut">
              <a:rPr lang="zh-TW" altLang="en-US" smtClean="0"/>
              <a:pPr/>
              <a:t>2015/11/4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5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73" tIns="47037" rIns="94073" bIns="4703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1041" y="4387137"/>
            <a:ext cx="5608320" cy="4156234"/>
          </a:xfrm>
          <a:prstGeom prst="rect">
            <a:avLst/>
          </a:prstGeom>
        </p:spPr>
        <p:txBody>
          <a:bodyPr vert="horz" lIns="94073" tIns="47037" rIns="94073" bIns="47037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772667"/>
            <a:ext cx="3037840" cy="461805"/>
          </a:xfrm>
          <a:prstGeom prst="rect">
            <a:avLst/>
          </a:prstGeom>
        </p:spPr>
        <p:txBody>
          <a:bodyPr vert="horz" lIns="94073" tIns="47037" rIns="94073" bIns="47037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970938" y="8772667"/>
            <a:ext cx="3037840" cy="461805"/>
          </a:xfrm>
          <a:prstGeom prst="rect">
            <a:avLst/>
          </a:prstGeom>
        </p:spPr>
        <p:txBody>
          <a:bodyPr vert="horz" lIns="94073" tIns="47037" rIns="94073" bIns="47037" rtlCol="0" anchor="b"/>
          <a:lstStyle>
            <a:lvl1pPr algn="r">
              <a:defRPr sz="1200"/>
            </a:lvl1pPr>
          </a:lstStyle>
          <a:p>
            <a:fld id="{8021142F-FEA7-44BF-87C2-813D207FE5A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260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To build vehicle model, we use a pre-defined generic model, which can be extended to different </a:t>
            </a:r>
            <a:r>
              <a:rPr lang="en-US" altLang="zh-CN" dirty="0" smtClean="0">
                <a:solidFill>
                  <a:srgbClr val="FF0000"/>
                </a:solidFill>
              </a:rPr>
              <a:t>types</a:t>
            </a:r>
            <a:r>
              <a:rPr lang="en-US" altLang="zh-CN" dirty="0" smtClean="0"/>
              <a:t> of vehicle.</a:t>
            </a:r>
            <a:endParaRPr lang="en-US" altLang="zh-CN" baseline="30000" dirty="0" smtClean="0"/>
          </a:p>
          <a:p>
            <a:r>
              <a:rPr lang="en-US" altLang="zh-TW" dirty="0" smtClean="0"/>
              <a:t>This method is well described in Zhang’s paper in 2012.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In this generic model, there are ◎12 shape parameters, which define the shape and geometry of the vehicle, </a:t>
            </a:r>
          </a:p>
          <a:p>
            <a:r>
              <a:rPr lang="en-US" altLang="zh-TW" dirty="0" smtClean="0"/>
              <a:t>And ◎ 3 pose parameters, which define orientation and translation of the vehicle.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Totally, there are ◎15 parameters we need to estimate simultaneously.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1142F-FEA7-44BF-87C2-813D207FE5A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919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steps of</a:t>
            </a:r>
            <a:r>
              <a:rPr lang="en-US" baseline="0" dirty="0" smtClean="0"/>
              <a:t> the </a:t>
            </a:r>
            <a:r>
              <a:rPr lang="en-US" u="sng" baseline="0" dirty="0" smtClean="0"/>
              <a:t>parameters estimation</a:t>
            </a:r>
            <a:r>
              <a:rPr lang="en-US" baseline="0" dirty="0" smtClean="0"/>
              <a:t> are shown here</a:t>
            </a:r>
          </a:p>
          <a:p>
            <a:endParaRPr lang="en-US" baseline="0" dirty="0" smtClean="0"/>
          </a:p>
          <a:p>
            <a:r>
              <a:rPr lang="en-US" baseline="0" dirty="0" smtClean="0"/>
              <a:t>First, we have to initialize the pose of the vehicle, these pose are predicted by using previous tracking results</a:t>
            </a:r>
          </a:p>
          <a:p>
            <a:endParaRPr lang="en-US" baseline="0" dirty="0" smtClean="0"/>
          </a:p>
          <a:p>
            <a:r>
              <a:rPr lang="en-US" baseline="0" dirty="0" smtClean="0"/>
              <a:t>◎and then,  estimate these 15 parameters in an iterative optimization, call </a:t>
            </a:r>
            <a:r>
              <a:rPr lang="en-US" altLang="zh-TW" baseline="0" dirty="0" smtClean="0"/>
              <a:t>EMNA global, </a:t>
            </a:r>
            <a:r>
              <a:rPr lang="en-US" baseline="0" dirty="0" smtClean="0"/>
              <a:t> by evaluating FES</a:t>
            </a:r>
          </a:p>
          <a:p>
            <a:r>
              <a:rPr lang="en-US" altLang="zh-TW" baseline="0" dirty="0" smtClean="0"/>
              <a:t>◎</a:t>
            </a:r>
            <a:r>
              <a:rPr lang="en-US" baseline="0" dirty="0" smtClean="0"/>
              <a:t>Like this example, the parameters will converge after 8 iterations.</a:t>
            </a:r>
          </a:p>
          <a:p>
            <a:endParaRPr lang="en-US" baseline="0" dirty="0" smtClean="0"/>
          </a:p>
          <a:p>
            <a:r>
              <a:rPr lang="en-US" altLang="zh-TW" baseline="0" dirty="0" smtClean="0"/>
              <a:t>◎</a:t>
            </a:r>
            <a:r>
              <a:rPr lang="en-US" baseline="0" dirty="0" smtClean="0"/>
              <a:t>Finally, when it converges, we can get a well-fit 3d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1142F-FEA7-44BF-87C2-813D207FE5A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baseline="0" dirty="0" smtClean="0"/>
              <a:t>FES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is to measure how well the model fits, higher FES means better </a:t>
            </a:r>
            <a:r>
              <a:rPr lang="en-US" altLang="zh-TW" u="sng" baseline="0" dirty="0" smtClean="0"/>
              <a:t>fitness of a model</a:t>
            </a:r>
            <a:r>
              <a:rPr lang="en-US" altLang="zh-TW" baseline="0" dirty="0" smtClean="0"/>
              <a:t>.</a:t>
            </a:r>
          </a:p>
          <a:p>
            <a:r>
              <a:rPr lang="en-US" altLang="zh-TW" baseline="0" dirty="0" smtClean="0"/>
              <a:t>The idea is to calculate the gradient perpendicular to </a:t>
            </a:r>
            <a:r>
              <a:rPr lang="en-US" altLang="zh-TW" i="0" u="sng" baseline="0" dirty="0" smtClean="0"/>
              <a:t>projected line segment</a:t>
            </a:r>
            <a:r>
              <a:rPr lang="en-US" altLang="zh-TW" baseline="0" dirty="0" smtClean="0"/>
              <a:t>. ◎</a:t>
            </a:r>
          </a:p>
          <a:p>
            <a:r>
              <a:rPr lang="en-US" altLang="zh-TW" baseline="0" dirty="0" smtClean="0"/>
              <a:t>This is because the intensity of car and road are very different, the gradient should be very large along the direction perpendicular to the </a:t>
            </a:r>
            <a:r>
              <a:rPr lang="en-US" altLang="zh-TW" u="sng" baseline="0" dirty="0" smtClean="0"/>
              <a:t>projected line</a:t>
            </a:r>
            <a:r>
              <a:rPr lang="en-US" altLang="zh-TW" u="none" baseline="0" dirty="0" smtClean="0"/>
              <a:t>.</a:t>
            </a:r>
          </a:p>
          <a:p>
            <a:endParaRPr lang="en-US" altLang="zh-TW" baseline="0" dirty="0" smtClean="0"/>
          </a:p>
          <a:p>
            <a:r>
              <a:rPr lang="en-US" altLang="zh-TW" baseline="0" dirty="0" smtClean="0"/>
              <a:t>To calculate FES, a model is projected onto the image, and </a:t>
            </a:r>
            <a:r>
              <a:rPr lang="en-US" altLang="zh-TW" u="sng" baseline="0" dirty="0" smtClean="0"/>
              <a:t>projected lines</a:t>
            </a:r>
            <a:r>
              <a:rPr lang="en-US" altLang="zh-TW" u="none" baseline="0" dirty="0" smtClean="0"/>
              <a:t> </a:t>
            </a:r>
            <a:r>
              <a:rPr lang="en-US" altLang="zh-TW" baseline="0" dirty="0" smtClean="0"/>
              <a:t>are sampled like this. ◎</a:t>
            </a:r>
          </a:p>
          <a:p>
            <a:r>
              <a:rPr lang="en-US" altLang="zh-TW" baseline="0" dirty="0" smtClean="0"/>
              <a:t>Then, each </a:t>
            </a:r>
            <a:r>
              <a:rPr lang="en-US" altLang="zh-TW" u="sng" baseline="0" dirty="0" smtClean="0"/>
              <a:t>sampled point</a:t>
            </a:r>
            <a:r>
              <a:rPr lang="en-US" altLang="zh-TW" u="none" baseline="0" dirty="0" smtClean="0"/>
              <a:t> </a:t>
            </a:r>
            <a:r>
              <a:rPr lang="en-US" altLang="zh-TW" baseline="0" dirty="0" smtClean="0"/>
              <a:t>defines a virtual rectangle ◎</a:t>
            </a:r>
          </a:p>
          <a:p>
            <a:pPr defTabSz="940735">
              <a:defRPr/>
            </a:pPr>
            <a:r>
              <a:rPr lang="en-US" altLang="zh-TW" baseline="0" dirty="0" smtClean="0"/>
              <a:t>◎for each pixel in virtual rectangle, we </a:t>
            </a:r>
            <a:r>
              <a:rPr lang="en-US" altLang="zh-TW" dirty="0" smtClean="0"/>
              <a:t>calculate the</a:t>
            </a:r>
            <a:r>
              <a:rPr lang="en-US" altLang="zh-TW" baseline="0" dirty="0" smtClean="0"/>
              <a:t> gradient along the direction perpendicular to this line</a:t>
            </a:r>
          </a:p>
          <a:p>
            <a:pPr defTabSz="940735">
              <a:defRPr/>
            </a:pPr>
            <a:r>
              <a:rPr lang="en-US" altLang="zh-TW" baseline="0" dirty="0" smtClean="0"/>
              <a:t>So we calculate sin of beta◎ minus alpha◎, like this ◎</a:t>
            </a:r>
          </a:p>
          <a:p>
            <a:pPr defTabSz="940735">
              <a:defRPr/>
            </a:pPr>
            <a:endParaRPr lang="en-US" altLang="zh-TW" baseline="0" dirty="0" smtClean="0"/>
          </a:p>
          <a:p>
            <a:r>
              <a:rPr lang="en-US" altLang="zh-TW" baseline="0" dirty="0" smtClean="0"/>
              <a:t>◎For each virtual rectangle, we give a </a:t>
            </a:r>
            <a:r>
              <a:rPr lang="en-US" altLang="zh-TW" u="sng" baseline="0" dirty="0" smtClean="0"/>
              <a:t>Gaussian weight</a:t>
            </a:r>
            <a:r>
              <a:rPr lang="en-US" altLang="zh-TW" baseline="0" dirty="0" smtClean="0"/>
              <a:t> for each pixel , and sum up all of the FES of each pixel.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Finally,</a:t>
            </a:r>
            <a:r>
              <a:rPr lang="en-US" altLang="zh-TW" baseline="0" dirty="0" smtClean="0"/>
              <a:t> we sum up all of the virtual rectangles` FES. ◎</a:t>
            </a:r>
          </a:p>
          <a:p>
            <a:r>
              <a:rPr lang="en-US" altLang="zh-TW" baseline="0" dirty="0" smtClean="0"/>
              <a:t>This FES represents the degree of fitness of a model, higher FES indicates better fitting.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1142F-FEA7-44BF-87C2-813D207FE5A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5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 hasCustomPrompt="1"/>
          </p:nvPr>
        </p:nvSpPr>
        <p:spPr>
          <a:xfrm>
            <a:off x="457200" y="3899938"/>
            <a:ext cx="4953000" cy="1752600"/>
          </a:xfrm>
        </p:spPr>
        <p:txBody>
          <a:bodyPr>
            <a:normAutofit/>
          </a:bodyPr>
          <a:lstStyle>
            <a:lvl1pPr marL="64008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TW" dirty="0" smtClean="0"/>
              <a:t>Name</a:t>
            </a:r>
          </a:p>
          <a:p>
            <a:r>
              <a:rPr kumimoji="0" lang="en-US" altLang="zh-TW" dirty="0" smtClean="0"/>
              <a:t>mm/</a:t>
            </a:r>
            <a:r>
              <a:rPr kumimoji="0" lang="en-US" altLang="zh-TW" dirty="0" err="1" smtClean="0"/>
              <a:t>dd</a:t>
            </a:r>
            <a:r>
              <a:rPr kumimoji="0" lang="en-US" altLang="zh-TW" dirty="0" smtClean="0"/>
              <a:t>/</a:t>
            </a:r>
            <a:r>
              <a:rPr kumimoji="0" lang="en-US" altLang="zh-TW" dirty="0" err="1" smtClean="0"/>
              <a:t>yyyy</a:t>
            </a:r>
            <a:endParaRPr kumimoji="0" lang="en-US" dirty="0"/>
          </a:p>
        </p:txBody>
      </p:sp>
      <p:sp>
        <p:nvSpPr>
          <p:cNvPr id="18" name="標題 17"/>
          <p:cNvSpPr>
            <a:spLocks noGrp="1"/>
          </p:cNvSpPr>
          <p:nvPr>
            <p:ph type="title" hasCustomPrompt="1"/>
          </p:nvPr>
        </p:nvSpPr>
        <p:spPr>
          <a:xfrm>
            <a:off x="467544" y="1700808"/>
            <a:ext cx="8229600" cy="2002904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pic>
        <p:nvPicPr>
          <p:cNvPr id="15" name="Picture 7" descr="UW.Signature_left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67" y="16934"/>
            <a:ext cx="3578225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8640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</p:spPr>
        <p:txBody>
          <a:bodyPr/>
          <a:lstStyle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395536" y="1510185"/>
            <a:ext cx="8352928" cy="0"/>
          </a:xfrm>
          <a:prstGeom prst="line">
            <a:avLst/>
          </a:prstGeom>
          <a:ln w="889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投影片編號版面配置區 2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25" name="矩形 24"/>
          <p:cNvSpPr/>
          <p:nvPr userDrawn="1"/>
        </p:nvSpPr>
        <p:spPr>
          <a:xfrm>
            <a:off x="3056714" y="2649106"/>
            <a:ext cx="30476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44356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</a:t>
            </a:r>
            <a:r>
              <a:rPr lang="en-US" altLang="zh-TW" sz="4000" b="1" cap="none" spc="0" baseline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altLang="zh-TW" sz="4000" b="1" cap="none" spc="0" baseline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44356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You</a:t>
            </a:r>
            <a:endParaRPr lang="zh-TW" altLang="en-US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44356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D7C4"/>
            </a:gs>
            <a:gs pos="50000">
              <a:srgbClr val="ECE8DC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864096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80DAAE02-177E-4DA9-8353-72952B592B7D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6" name="Picture 7" descr="UW.Signature_left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67" y="16934"/>
            <a:ext cx="3578225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9" name="群組 48"/>
          <p:cNvGrpSpPr/>
          <p:nvPr userDrawn="1"/>
        </p:nvGrpSpPr>
        <p:grpSpPr>
          <a:xfrm>
            <a:off x="7164288" y="6443613"/>
            <a:ext cx="1901617" cy="322231"/>
            <a:chOff x="6248504" y="6401278"/>
            <a:chExt cx="1901617" cy="322231"/>
          </a:xfrm>
        </p:grpSpPr>
        <p:sp>
          <p:nvSpPr>
            <p:cNvPr id="50" name="文字方塊 49"/>
            <p:cNvSpPr txBox="1"/>
            <p:nvPr userDrawn="1"/>
          </p:nvSpPr>
          <p:spPr>
            <a:xfrm>
              <a:off x="6842071" y="6401477"/>
              <a:ext cx="13080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b="1" dirty="0" smtClean="0">
                  <a:latin typeface="Lucida Calligraphy" pitchFamily="66" charset="0"/>
                </a:rPr>
                <a:t>I</a:t>
              </a:r>
              <a:r>
                <a:rPr lang="en-US" altLang="zh-TW" sz="600" b="1" dirty="0" smtClean="0">
                  <a:latin typeface="Lucida Calligraphy" pitchFamily="66" charset="0"/>
                </a:rPr>
                <a:t>nformation </a:t>
              </a:r>
              <a:r>
                <a:rPr lang="en-US" altLang="zh-TW" sz="1200" b="1" dirty="0" smtClean="0">
                  <a:latin typeface="Lucida Calligraphy" pitchFamily="66" charset="0"/>
                </a:rPr>
                <a:t>P</a:t>
              </a:r>
              <a:r>
                <a:rPr lang="en-US" altLang="zh-TW" sz="600" b="1" dirty="0" smtClean="0">
                  <a:latin typeface="Lucida Calligraphy" pitchFamily="66" charset="0"/>
                </a:rPr>
                <a:t>rocessing</a:t>
              </a:r>
              <a:r>
                <a:rPr lang="en-US" altLang="zh-TW" sz="1200" b="1" dirty="0" smtClean="0">
                  <a:latin typeface="Lucida Calligraphy" pitchFamily="66" charset="0"/>
                </a:rPr>
                <a:t> L</a:t>
              </a:r>
              <a:r>
                <a:rPr lang="en-US" altLang="zh-TW" sz="600" b="1" dirty="0" smtClean="0">
                  <a:latin typeface="Lucida Calligraphy" pitchFamily="66" charset="0"/>
                </a:rPr>
                <a:t>ab</a:t>
              </a:r>
              <a:endParaRPr lang="zh-TW" altLang="en-US" sz="600" b="1" dirty="0">
                <a:latin typeface="Lucida Calligraphy" pitchFamily="66" charset="0"/>
              </a:endParaRPr>
            </a:p>
          </p:txBody>
        </p:sp>
        <p:sp>
          <p:nvSpPr>
            <p:cNvPr id="51" name="矩形 50"/>
            <p:cNvSpPr/>
            <p:nvPr userDrawn="1"/>
          </p:nvSpPr>
          <p:spPr>
            <a:xfrm>
              <a:off x="6873871" y="6584426"/>
              <a:ext cx="1152000" cy="60252"/>
            </a:xfrm>
            <a:prstGeom prst="rect">
              <a:avLst/>
            </a:prstGeom>
            <a:solidFill>
              <a:srgbClr val="4435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6992394" y="6644678"/>
              <a:ext cx="1152128" cy="602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3" name="Picture 2" descr="C:\Users\Young\Desktop\EE_Icon_RGB.pn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248504" y="6401278"/>
              <a:ext cx="553784" cy="322231"/>
            </a:xfrm>
            <a:prstGeom prst="rect">
              <a:avLst/>
            </a:prstGeom>
            <a:noFill/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9.w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eg"/><Relationship Id="rId10" Type="http://schemas.openxmlformats.org/officeDocument/2006/relationships/image" Target="../media/image32.jpg"/><Relationship Id="rId4" Type="http://schemas.openxmlformats.org/officeDocument/2006/relationships/image" Target="../media/image26.jpg"/><Relationship Id="rId9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g"/><Relationship Id="rId10" Type="http://schemas.openxmlformats.org/officeDocument/2006/relationships/image" Target="../media/image41.jpg"/><Relationship Id="rId4" Type="http://schemas.openxmlformats.org/officeDocument/2006/relationships/image" Target="../media/image35.jpeg"/><Relationship Id="rId9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3D Car </a:t>
            </a:r>
            <a:r>
              <a:rPr lang="en-US" dirty="0" smtClean="0"/>
              <a:t>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99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Determine ROI</a:t>
            </a:r>
          </a:p>
          <a:p>
            <a:r>
              <a:rPr lang="en-US" dirty="0" smtClean="0"/>
              <a:t>Pose initialization and 3D vehicle model</a:t>
            </a:r>
          </a:p>
          <a:p>
            <a:r>
              <a:rPr lang="en-US" dirty="0" smtClean="0"/>
              <a:t> 3D vehicle model fitness evaluation score</a:t>
            </a:r>
          </a:p>
          <a:p>
            <a:r>
              <a:rPr lang="en-US" dirty="0" smtClean="0"/>
              <a:t>Extract rear and front part of the vehicle</a:t>
            </a:r>
          </a:p>
          <a:p>
            <a:r>
              <a:rPr lang="en-US" dirty="0" smtClean="0"/>
              <a:t>Align the extracted parts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66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Determine ROI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ROI is the vehicle</a:t>
            </a:r>
          </a:p>
          <a:p>
            <a:r>
              <a:rPr lang="en-US" dirty="0" smtClean="0"/>
              <a:t>Determine foreground objects using background subtraction algorithms such as GMM</a:t>
            </a:r>
          </a:p>
          <a:p>
            <a:r>
              <a:rPr lang="en-US" dirty="0" smtClean="0"/>
              <a:t>Foreground might contain some noise. Apply morphological operators to preprocess the foreground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43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3-D Vehicle Modeling</a:t>
            </a:r>
            <a:r>
              <a:rPr lang="en-US" altLang="zh-TW" b="1" baseline="30000" dirty="0" smtClean="0"/>
              <a:t>[Zhang et al. ‘12]</a:t>
            </a:r>
            <a:endParaRPr lang="zh-TW" altLang="en-US" b="1" baseline="30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752" y="1527048"/>
            <a:ext cx="8503920" cy="3054080"/>
          </a:xfrm>
        </p:spPr>
        <p:txBody>
          <a:bodyPr/>
          <a:lstStyle/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CN" sz="2000" dirty="0" smtClean="0"/>
              <a:t>build vehicle model by using a pre-defined generic model, which can be extended to different </a:t>
            </a:r>
            <a:r>
              <a:rPr lang="en-US" altLang="zh-CN" sz="2000" dirty="0" smtClean="0">
                <a:solidFill>
                  <a:srgbClr val="FF0000"/>
                </a:solidFill>
              </a:rPr>
              <a:t>types</a:t>
            </a:r>
            <a:r>
              <a:rPr lang="en-US" altLang="zh-CN" sz="2000" dirty="0" smtClean="0"/>
              <a:t> of vehicle.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20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20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20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20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20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CN" sz="1200" dirty="0" smtClean="0"/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CN" sz="2000" dirty="0" smtClean="0"/>
              <a:t>Estimated parameters: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238772"/>
            <a:ext cx="7632848" cy="163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投影片編號版面配置區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4</a:t>
            </a:fld>
            <a:endParaRPr lang="zh-TW" altLang="en-US"/>
          </a:p>
        </p:txBody>
      </p:sp>
      <p:grpSp>
        <p:nvGrpSpPr>
          <p:cNvPr id="5" name="群組 37"/>
          <p:cNvGrpSpPr/>
          <p:nvPr/>
        </p:nvGrpSpPr>
        <p:grpSpPr>
          <a:xfrm>
            <a:off x="1187624" y="2871986"/>
            <a:ext cx="2219548" cy="830610"/>
            <a:chOff x="1187624" y="2871986"/>
            <a:chExt cx="2219548" cy="830610"/>
          </a:xfrm>
        </p:grpSpPr>
        <p:cxnSp>
          <p:nvCxnSpPr>
            <p:cNvPr id="23" name="直線單箭頭接點 22"/>
            <p:cNvCxnSpPr/>
            <p:nvPr/>
          </p:nvCxnSpPr>
          <p:spPr>
            <a:xfrm flipV="1">
              <a:off x="2862598" y="3374060"/>
              <a:ext cx="435423" cy="193522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3056119" y="3517930"/>
              <a:ext cx="21640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 smtClean="0">
                  <a:solidFill>
                    <a:srgbClr val="FF0000"/>
                  </a:solidFill>
                </a:rPr>
                <a:t>W1</a:t>
              </a:r>
              <a:endParaRPr lang="zh-TW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直線單箭頭接點 24"/>
            <p:cNvCxnSpPr/>
            <p:nvPr/>
          </p:nvCxnSpPr>
          <p:spPr>
            <a:xfrm>
              <a:off x="3316114" y="3068960"/>
              <a:ext cx="0" cy="288032"/>
            </a:xfrm>
            <a:prstGeom prst="straightConnector1">
              <a:avLst/>
            </a:prstGeom>
            <a:ln w="25400">
              <a:solidFill>
                <a:srgbClr val="00FF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3216414" y="2871986"/>
              <a:ext cx="19075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 smtClean="0">
                  <a:solidFill>
                    <a:srgbClr val="00FF00"/>
                  </a:solidFill>
                </a:rPr>
                <a:t>H1</a:t>
              </a:r>
              <a:endParaRPr lang="zh-TW" altLang="en-US" sz="1200" dirty="0">
                <a:solidFill>
                  <a:srgbClr val="00FF00"/>
                </a:solidFill>
              </a:endParaRPr>
            </a:p>
          </p:txBody>
        </p:sp>
        <p:cxnSp>
          <p:nvCxnSpPr>
            <p:cNvPr id="29" name="直線單箭頭接點 28"/>
            <p:cNvCxnSpPr/>
            <p:nvPr/>
          </p:nvCxnSpPr>
          <p:spPr>
            <a:xfrm rot="21540000" flipH="1" flipV="1">
              <a:off x="1187624" y="3256429"/>
              <a:ext cx="1596552" cy="350363"/>
            </a:xfrm>
            <a:prstGeom prst="straightConnector1">
              <a:avLst/>
            </a:prstGeom>
            <a:ln w="25400">
              <a:solidFill>
                <a:srgbClr val="3333FF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1744813" y="3422440"/>
              <a:ext cx="9297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 smtClean="0">
                  <a:solidFill>
                    <a:srgbClr val="3333FF"/>
                  </a:solidFill>
                </a:rPr>
                <a:t>L</a:t>
              </a:r>
              <a:endParaRPr lang="zh-TW" altLang="en-US" sz="1200" dirty="0">
                <a:solidFill>
                  <a:srgbClr val="3333FF"/>
                </a:solidFill>
              </a:endParaRPr>
            </a:p>
          </p:txBody>
        </p:sp>
      </p:grp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509120"/>
            <a:ext cx="2016224" cy="187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群組 36"/>
          <p:cNvGrpSpPr/>
          <p:nvPr/>
        </p:nvGrpSpPr>
        <p:grpSpPr>
          <a:xfrm>
            <a:off x="683568" y="4637278"/>
            <a:ext cx="2016224" cy="591922"/>
            <a:chOff x="683568" y="4637278"/>
            <a:chExt cx="2016224" cy="591922"/>
          </a:xfrm>
        </p:grpSpPr>
        <p:sp>
          <p:nvSpPr>
            <p:cNvPr id="34" name="矩形 33"/>
            <p:cNvSpPr/>
            <p:nvPr/>
          </p:nvSpPr>
          <p:spPr>
            <a:xfrm>
              <a:off x="683568" y="4637278"/>
              <a:ext cx="2016224" cy="1440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683568" y="4801391"/>
              <a:ext cx="2016224" cy="144016"/>
            </a:xfrm>
            <a:prstGeom prst="rect">
              <a:avLst/>
            </a:prstGeom>
            <a:noFill/>
            <a:ln w="25400">
              <a:solidFill>
                <a:srgbClr val="00FF00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83568" y="5085184"/>
              <a:ext cx="2016224" cy="144016"/>
            </a:xfrm>
            <a:prstGeom prst="rect">
              <a:avLst/>
            </a:prstGeom>
            <a:noFill/>
            <a:ln w="25400">
              <a:solidFill>
                <a:srgbClr val="3333FF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9" name="文字方塊 38"/>
          <p:cNvSpPr txBox="1"/>
          <p:nvPr/>
        </p:nvSpPr>
        <p:spPr>
          <a:xfrm>
            <a:off x="2987825" y="5200625"/>
            <a:ext cx="108011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600" dirty="0" smtClean="0"/>
              <a:t>12 shape parameters</a:t>
            </a:r>
            <a:endParaRPr lang="zh-TW" altLang="en-US" sz="1600" dirty="0"/>
          </a:p>
        </p:txBody>
      </p:sp>
      <p:sp>
        <p:nvSpPr>
          <p:cNvPr id="40" name="左大括弧 39"/>
          <p:cNvSpPr/>
          <p:nvPr/>
        </p:nvSpPr>
        <p:spPr>
          <a:xfrm rot="10800000">
            <a:off x="2771800" y="4509120"/>
            <a:ext cx="216024" cy="1872208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十字形 40"/>
          <p:cNvSpPr/>
          <p:nvPr/>
        </p:nvSpPr>
        <p:spPr>
          <a:xfrm>
            <a:off x="4355976" y="5263108"/>
            <a:ext cx="360040" cy="360040"/>
          </a:xfrm>
          <a:prstGeom prst="plus">
            <a:avLst>
              <a:gd name="adj" fmla="val 36574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00192" y="4518645"/>
            <a:ext cx="2494197" cy="1860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群組 55"/>
          <p:cNvGrpSpPr/>
          <p:nvPr/>
        </p:nvGrpSpPr>
        <p:grpSpPr>
          <a:xfrm>
            <a:off x="7286467" y="5157770"/>
            <a:ext cx="1410638" cy="1090801"/>
            <a:chOff x="5918315" y="5167295"/>
            <a:chExt cx="1410638" cy="1090801"/>
          </a:xfrm>
        </p:grpSpPr>
        <p:cxnSp>
          <p:nvCxnSpPr>
            <p:cNvPr id="44" name="直線單箭頭接點 43"/>
            <p:cNvCxnSpPr/>
            <p:nvPr/>
          </p:nvCxnSpPr>
          <p:spPr>
            <a:xfrm flipH="1" flipV="1">
              <a:off x="5918315" y="5403737"/>
              <a:ext cx="419246" cy="11406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6204507" y="6010141"/>
              <a:ext cx="67486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600" b="1" dirty="0" smtClean="0">
                  <a:solidFill>
                    <a:schemeClr val="bg1"/>
                  </a:solidFill>
                </a:rPr>
                <a:t>(</a:t>
              </a:r>
              <a:r>
                <a:rPr lang="en-US" altLang="zh-TW" sz="1600" b="1" i="1" dirty="0" smtClean="0">
                  <a:solidFill>
                    <a:schemeClr val="bg1"/>
                  </a:solidFill>
                </a:rPr>
                <a:t>X’,Y’</a:t>
              </a:r>
              <a:r>
                <a:rPr lang="en-US" altLang="zh-TW" sz="1600" b="1" dirty="0" smtClean="0">
                  <a:solidFill>
                    <a:schemeClr val="bg1"/>
                  </a:solidFill>
                </a:rPr>
                <a:t>)</a:t>
              </a:r>
              <a:endParaRPr lang="zh-TW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6546664" y="5209166"/>
              <a:ext cx="14747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b="1" i="1" dirty="0" smtClean="0">
                  <a:solidFill>
                    <a:schemeClr val="bg1"/>
                  </a:solidFill>
                </a:rPr>
                <a:t>θ</a:t>
              </a:r>
              <a:endParaRPr lang="zh-TW" altLang="zh-TW" b="1" i="1" dirty="0" smtClean="0">
                <a:solidFill>
                  <a:schemeClr val="bg1"/>
                </a:solidFill>
              </a:endParaRPr>
            </a:p>
          </p:txBody>
        </p:sp>
        <p:cxnSp>
          <p:nvCxnSpPr>
            <p:cNvPr id="47" name="直線單箭頭接點 46"/>
            <p:cNvCxnSpPr/>
            <p:nvPr/>
          </p:nvCxnSpPr>
          <p:spPr>
            <a:xfrm flipH="1" flipV="1">
              <a:off x="6337561" y="5517797"/>
              <a:ext cx="827394" cy="740299"/>
            </a:xfrm>
            <a:prstGeom prst="straightConnector1">
              <a:avLst/>
            </a:prstGeom>
            <a:ln w="25400">
              <a:solidFill>
                <a:schemeClr val="bg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手繪多邊形 47"/>
            <p:cNvSpPr/>
            <p:nvPr/>
          </p:nvSpPr>
          <p:spPr>
            <a:xfrm rot="20714293">
              <a:off x="6196216" y="5345208"/>
              <a:ext cx="296555" cy="170557"/>
            </a:xfrm>
            <a:custGeom>
              <a:avLst/>
              <a:gdLst>
                <a:gd name="connsiteX0" fmla="*/ 368490 w 439004"/>
                <a:gd name="connsiteY0" fmla="*/ 252484 h 252484"/>
                <a:gd name="connsiteX1" fmla="*/ 436729 w 439004"/>
                <a:gd name="connsiteY1" fmla="*/ 143302 h 252484"/>
                <a:gd name="connsiteX2" fmla="*/ 382138 w 439004"/>
                <a:gd name="connsiteY2" fmla="*/ 47768 h 252484"/>
                <a:gd name="connsiteX3" fmla="*/ 272956 w 439004"/>
                <a:gd name="connsiteY3" fmla="*/ 6824 h 252484"/>
                <a:gd name="connsiteX4" fmla="*/ 95535 w 439004"/>
                <a:gd name="connsiteY4" fmla="*/ 6824 h 252484"/>
                <a:gd name="connsiteX5" fmla="*/ 0 w 439004"/>
                <a:gd name="connsiteY5" fmla="*/ 47768 h 252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9004" h="252484">
                  <a:moveTo>
                    <a:pt x="368490" y="252484"/>
                  </a:moveTo>
                  <a:cubicBezTo>
                    <a:pt x="401472" y="214952"/>
                    <a:pt x="434454" y="177421"/>
                    <a:pt x="436729" y="143302"/>
                  </a:cubicBezTo>
                  <a:cubicBezTo>
                    <a:pt x="439004" y="109183"/>
                    <a:pt x="409434" y="70514"/>
                    <a:pt x="382138" y="47768"/>
                  </a:cubicBezTo>
                  <a:cubicBezTo>
                    <a:pt x="354842" y="25022"/>
                    <a:pt x="320723" y="13648"/>
                    <a:pt x="272956" y="6824"/>
                  </a:cubicBezTo>
                  <a:cubicBezTo>
                    <a:pt x="225189" y="0"/>
                    <a:pt x="141028" y="0"/>
                    <a:pt x="95535" y="6824"/>
                  </a:cubicBezTo>
                  <a:cubicBezTo>
                    <a:pt x="50042" y="13648"/>
                    <a:pt x="25021" y="30708"/>
                    <a:pt x="0" y="47768"/>
                  </a:cubicBezTo>
                </a:path>
              </a:pathLst>
            </a:custGeom>
            <a:ln w="25400">
              <a:solidFill>
                <a:schemeClr val="bg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9" name="直線單箭頭接點 48"/>
            <p:cNvCxnSpPr/>
            <p:nvPr/>
          </p:nvCxnSpPr>
          <p:spPr>
            <a:xfrm flipV="1">
              <a:off x="6348519" y="5167295"/>
              <a:ext cx="0" cy="348376"/>
            </a:xfrm>
            <a:prstGeom prst="straightConnector1">
              <a:avLst/>
            </a:prstGeom>
            <a:ln w="22225">
              <a:solidFill>
                <a:srgbClr val="00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群組 27"/>
            <p:cNvGrpSpPr/>
            <p:nvPr/>
          </p:nvGrpSpPr>
          <p:grpSpPr>
            <a:xfrm>
              <a:off x="6891169" y="5909719"/>
              <a:ext cx="437784" cy="348376"/>
              <a:chOff x="2679115" y="2924943"/>
              <a:chExt cx="723905" cy="576064"/>
            </a:xfrm>
          </p:grpSpPr>
          <p:cxnSp>
            <p:nvCxnSpPr>
              <p:cNvPr id="51" name="直線單箭頭接點 11"/>
              <p:cNvCxnSpPr/>
              <p:nvPr/>
            </p:nvCxnSpPr>
            <p:spPr>
              <a:xfrm flipV="1">
                <a:off x="3131840" y="2924944"/>
                <a:ext cx="0" cy="576064"/>
              </a:xfrm>
              <a:prstGeom prst="straightConnector1">
                <a:avLst/>
              </a:prstGeom>
              <a:ln w="22225">
                <a:solidFill>
                  <a:srgbClr val="00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單箭頭接點 51"/>
              <p:cNvCxnSpPr/>
              <p:nvPr/>
            </p:nvCxnSpPr>
            <p:spPr>
              <a:xfrm flipV="1">
                <a:off x="3146354" y="3073560"/>
                <a:ext cx="256666" cy="420757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單箭頭接點 52"/>
              <p:cNvCxnSpPr/>
              <p:nvPr/>
            </p:nvCxnSpPr>
            <p:spPr>
              <a:xfrm flipH="1" flipV="1">
                <a:off x="2679115" y="3395296"/>
                <a:ext cx="438773" cy="91197"/>
              </a:xfrm>
              <a:prstGeom prst="straightConnector1">
                <a:avLst/>
              </a:prstGeom>
              <a:ln w="22225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文字方塊 53"/>
          <p:cNvSpPr txBox="1"/>
          <p:nvPr/>
        </p:nvSpPr>
        <p:spPr>
          <a:xfrm>
            <a:off x="5004049" y="5188885"/>
            <a:ext cx="108011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600" dirty="0" smtClean="0"/>
              <a:t>3 pose</a:t>
            </a:r>
          </a:p>
          <a:p>
            <a:pPr algn="ctr"/>
            <a:r>
              <a:rPr lang="en-US" altLang="zh-TW" sz="1600" dirty="0" smtClean="0"/>
              <a:t>parameters</a:t>
            </a:r>
            <a:endParaRPr lang="zh-TW" altLang="en-US" sz="1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3653236" y="4655358"/>
            <a:ext cx="1782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15 parameters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9" name="群組 58"/>
          <p:cNvGrpSpPr/>
          <p:nvPr/>
        </p:nvGrpSpPr>
        <p:grpSpPr>
          <a:xfrm>
            <a:off x="4924420" y="5718016"/>
            <a:ext cx="1327286" cy="412800"/>
            <a:chOff x="5049768" y="5774784"/>
            <a:chExt cx="1327286" cy="412800"/>
          </a:xfrm>
        </p:grpSpPr>
        <p:sp>
          <p:nvSpPr>
            <p:cNvPr id="57" name="文字方塊 56"/>
            <p:cNvSpPr txBox="1"/>
            <p:nvPr/>
          </p:nvSpPr>
          <p:spPr>
            <a:xfrm>
              <a:off x="5172494" y="5774784"/>
              <a:ext cx="108363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400" dirty="0" smtClean="0">
                  <a:solidFill>
                    <a:srgbClr val="7030A0"/>
                  </a:solidFill>
                </a:rPr>
                <a:t>orientation: </a:t>
              </a:r>
              <a:r>
                <a:rPr lang="en-US" altLang="zh-TW" sz="1400" i="1" dirty="0" smtClean="0">
                  <a:solidFill>
                    <a:srgbClr val="7030A0"/>
                  </a:solidFill>
                </a:rPr>
                <a:t>θ</a:t>
              </a:r>
              <a:endParaRPr lang="zh-TW" altLang="zh-TW" i="1" dirty="0" smtClean="0">
                <a:solidFill>
                  <a:srgbClr val="7030A0"/>
                </a:solidFill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5049768" y="5972140"/>
              <a:ext cx="132728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400" dirty="0" smtClean="0">
                  <a:solidFill>
                    <a:srgbClr val="7030A0"/>
                  </a:solidFill>
                </a:rPr>
                <a:t>translation: </a:t>
              </a:r>
              <a:r>
                <a:rPr lang="en-US" altLang="zh-TW" sz="1400" i="1" dirty="0" smtClean="0">
                  <a:solidFill>
                    <a:srgbClr val="7030A0"/>
                  </a:solidFill>
                </a:rPr>
                <a:t>X’,Y’</a:t>
              </a:r>
              <a:endParaRPr lang="zh-TW" altLang="zh-TW" i="1" dirty="0" smtClean="0">
                <a:solidFill>
                  <a:srgbClr val="7030A0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3D Vehicle Modeling</a:t>
            </a:r>
            <a:r>
              <a:rPr lang="en-US" altLang="zh-TW" b="1" baseline="30000" dirty="0" smtClean="0"/>
              <a:t>[Zhang et al. ‘12]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76064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Steps:</a:t>
            </a:r>
          </a:p>
          <a:p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259632" y="2420308"/>
            <a:ext cx="1206664" cy="7677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b="1" dirty="0" smtClean="0">
                <a:latin typeface="Times New Roman" pitchFamily="18" charset="0"/>
                <a:cs typeface="Times New Roman" pitchFamily="18" charset="0"/>
              </a:rPr>
              <a:t>Pose Initialization</a:t>
            </a:r>
            <a:endParaRPr lang="zh-TW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8" name="群組 37"/>
          <p:cNvGrpSpPr/>
          <p:nvPr/>
        </p:nvGrpSpPr>
        <p:grpSpPr>
          <a:xfrm>
            <a:off x="2771800" y="1963440"/>
            <a:ext cx="3481784" cy="1753592"/>
            <a:chOff x="2771800" y="1747416"/>
            <a:chExt cx="3481784" cy="1753592"/>
          </a:xfrm>
        </p:grpSpPr>
        <p:grpSp>
          <p:nvGrpSpPr>
            <p:cNvPr id="7" name="群組 21"/>
            <p:cNvGrpSpPr/>
            <p:nvPr/>
          </p:nvGrpSpPr>
          <p:grpSpPr>
            <a:xfrm>
              <a:off x="3445272" y="1747416"/>
              <a:ext cx="2808312" cy="1753592"/>
              <a:chOff x="2869208" y="4267696"/>
              <a:chExt cx="2808312" cy="175359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2915816" y="4508540"/>
                <a:ext cx="2664296" cy="15127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111769" y="4726163"/>
                <a:ext cx="2036295" cy="767792"/>
              </a:xfrm>
              <a:prstGeom prst="rect">
                <a:avLst/>
              </a:prstGeom>
              <a:solidFill>
                <a:srgbClr val="EAEAEA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sz="1400" b="1" dirty="0" smtClean="0">
                    <a:latin typeface="Times New Roman" pitchFamily="18" charset="0"/>
                    <a:cs typeface="Times New Roman" pitchFamily="18" charset="0"/>
                  </a:rPr>
                  <a:t>Fitness Evaluation Score (FES)</a:t>
                </a:r>
                <a:endParaRPr lang="zh-TW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4" name="圖案 13"/>
              <p:cNvCxnSpPr>
                <a:stCxn id="13" idx="3"/>
                <a:endCxn id="13" idx="2"/>
              </p:cNvCxnSpPr>
              <p:nvPr/>
            </p:nvCxnSpPr>
            <p:spPr>
              <a:xfrm flipH="1">
                <a:off x="4129917" y="5110059"/>
                <a:ext cx="1018147" cy="383896"/>
              </a:xfrm>
              <a:prstGeom prst="bentConnector4">
                <a:avLst>
                  <a:gd name="adj1" fmla="val -22453"/>
                  <a:gd name="adj2" fmla="val 165734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字方塊 14"/>
              <p:cNvSpPr txBox="1"/>
              <p:nvPr/>
            </p:nvSpPr>
            <p:spPr>
              <a:xfrm>
                <a:off x="2869208" y="4267696"/>
                <a:ext cx="28083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1400" b="1" dirty="0" smtClean="0">
                    <a:latin typeface="Times New Roman" pitchFamily="18" charset="0"/>
                    <a:cs typeface="Times New Roman" pitchFamily="18" charset="0"/>
                  </a:rPr>
                  <a:t>Iterative Optimization (</a:t>
                </a:r>
                <a:r>
                  <a:rPr lang="en-US" altLang="zh-TW" sz="1400" dirty="0" err="1" smtClean="0"/>
                  <a:t>EMNA</a:t>
                </a:r>
                <a:r>
                  <a:rPr lang="en-US" altLang="zh-TW" sz="1400" baseline="-25000" dirty="0" err="1" smtClean="0"/>
                  <a:t>global</a:t>
                </a:r>
                <a:r>
                  <a:rPr lang="en-US" altLang="zh-TW" sz="14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TW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" name="向右箭號 9"/>
            <p:cNvSpPr/>
            <p:nvPr/>
          </p:nvSpPr>
          <p:spPr>
            <a:xfrm>
              <a:off x="2771800" y="2411129"/>
              <a:ext cx="432048" cy="378042"/>
            </a:xfrm>
            <a:prstGeom prst="righ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l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630056" y="3242004"/>
              <a:ext cx="1440160" cy="2160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TW" sz="1400" b="1" dirty="0" smtClean="0">
                  <a:latin typeface="Times New Roman" pitchFamily="18" charset="0"/>
                  <a:cs typeface="Times New Roman" pitchFamily="18" charset="0"/>
                </a:rPr>
                <a:t>15 parameters</a:t>
              </a:r>
              <a:endParaRPr lang="zh-TW" alt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437112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字方塊 22"/>
          <p:cNvSpPr txBox="1"/>
          <p:nvPr/>
        </p:nvSpPr>
        <p:spPr>
          <a:xfrm>
            <a:off x="4175121" y="4070766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iteration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148064" y="407076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129540" y="40707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131142" y="40614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121586" y="406147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129602" y="40614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121586" y="410173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136014" y="40614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128812" y="40767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8</a:t>
            </a:r>
            <a:endParaRPr lang="zh-TW" altLang="en-US" dirty="0"/>
          </a:p>
        </p:txBody>
      </p:sp>
      <p:pic>
        <p:nvPicPr>
          <p:cNvPr id="2375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4208" y="4436754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0" name="群組 39"/>
          <p:cNvGrpSpPr/>
          <p:nvPr/>
        </p:nvGrpSpPr>
        <p:grpSpPr>
          <a:xfrm>
            <a:off x="6516216" y="2555430"/>
            <a:ext cx="1691121" cy="492443"/>
            <a:chOff x="6516216" y="2324166"/>
            <a:chExt cx="1691121" cy="492443"/>
          </a:xfrm>
        </p:grpSpPr>
        <p:sp>
          <p:nvSpPr>
            <p:cNvPr id="9" name="文字方塊 8"/>
            <p:cNvSpPr txBox="1"/>
            <p:nvPr/>
          </p:nvSpPr>
          <p:spPr>
            <a:xfrm>
              <a:off x="7127217" y="2324166"/>
              <a:ext cx="108012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TW" sz="1600" b="1" dirty="0" smtClean="0">
                  <a:latin typeface="Times New Roman" pitchFamily="18" charset="0"/>
                  <a:cs typeface="Times New Roman" pitchFamily="18" charset="0"/>
                </a:rPr>
                <a:t>3-D vehicle</a:t>
              </a:r>
            </a:p>
            <a:p>
              <a:pPr algn="ctr"/>
              <a:r>
                <a:rPr lang="en-US" altLang="zh-TW" sz="1600" b="1" dirty="0" smtClean="0">
                  <a:latin typeface="Times New Roman" pitchFamily="18" charset="0"/>
                  <a:cs typeface="Times New Roman" pitchFamily="18" charset="0"/>
                </a:rPr>
                <a:t> model</a:t>
              </a:r>
              <a:endParaRPr lang="zh-TW" alt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向右箭號 38"/>
            <p:cNvSpPr/>
            <p:nvPr/>
          </p:nvSpPr>
          <p:spPr>
            <a:xfrm>
              <a:off x="6516216" y="2382788"/>
              <a:ext cx="432048" cy="378042"/>
            </a:xfrm>
            <a:prstGeom prst="righ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l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233473" name="Picture 1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5476" y="4437112"/>
            <a:ext cx="2352675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63888" y="4437112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5" name="Picture 3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63888" y="4437112"/>
            <a:ext cx="2352675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6" name="Picture 4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63888" y="4437112"/>
            <a:ext cx="2352675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563888" y="4437112"/>
            <a:ext cx="2352675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563888" y="4437112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9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563888" y="4437112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81" name="Picture 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63888" y="4437112"/>
            <a:ext cx="23526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33" grpId="0"/>
      <p:bldP spid="33" grpId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/>
          <p:cNvSpPr>
            <a:spLocks noGrp="1"/>
          </p:cNvSpPr>
          <p:nvPr>
            <p:ph sz="quarter" idx="1"/>
          </p:nvPr>
        </p:nvSpPr>
        <p:spPr>
          <a:xfrm>
            <a:off x="251520" y="1527048"/>
            <a:ext cx="8503920" cy="4854280"/>
          </a:xfrm>
        </p:spPr>
        <p:txBody>
          <a:bodyPr>
            <a:normAutofit/>
          </a:bodyPr>
          <a:lstStyle/>
          <a:p>
            <a:pPr marL="355600" indent="-355600"/>
            <a:r>
              <a:rPr lang="en-US" altLang="zh-TW" sz="2400" dirty="0" smtClean="0"/>
              <a:t>FES – measure how well the model fits</a:t>
            </a:r>
            <a:endParaRPr lang="en-US" altLang="zh-TW" sz="2400" dirty="0" smtClean="0">
              <a:solidFill>
                <a:srgbClr val="0070C0"/>
              </a:solidFill>
            </a:endParaRPr>
          </a:p>
          <a:p>
            <a:pPr lvl="1" algn="just"/>
            <a:r>
              <a:rPr lang="en-US" altLang="zh-TW" sz="2000" dirty="0" smtClean="0"/>
              <a:t>idea: calculate the gradient </a:t>
            </a:r>
            <a:r>
              <a:rPr lang="en-US" altLang="zh-TW" sz="2000" dirty="0" smtClean="0">
                <a:solidFill>
                  <a:srgbClr val="FF0000"/>
                </a:solidFill>
              </a:rPr>
              <a:t>perpendicular</a:t>
            </a:r>
            <a:r>
              <a:rPr lang="en-US" altLang="zh-TW" sz="2000" dirty="0" smtClean="0"/>
              <a:t> to projected line.</a:t>
            </a:r>
          </a:p>
          <a:p>
            <a:pPr lvl="1" algn="just">
              <a:buNone/>
            </a:pPr>
            <a:r>
              <a:rPr lang="en-US" altLang="zh-TW" sz="2000" dirty="0" smtClean="0"/>
              <a:t>	(intensity of car body and road are very different)</a:t>
            </a:r>
          </a:p>
          <a:p>
            <a:pPr lvl="1" algn="just">
              <a:buNone/>
            </a:pPr>
            <a:endParaRPr lang="en-US" altLang="zh-TW" sz="2000" dirty="0" smtClean="0"/>
          </a:p>
          <a:p>
            <a:pPr lvl="1" algn="just"/>
            <a:endParaRPr lang="en-US" altLang="zh-TW" sz="2000" dirty="0" smtClean="0"/>
          </a:p>
          <a:p>
            <a:pPr lvl="1" algn="just">
              <a:defRPr/>
            </a:pPr>
            <a:endParaRPr lang="en-US" altLang="zh-TW" sz="2000" dirty="0" smtClean="0"/>
          </a:p>
          <a:p>
            <a:pPr lvl="1" algn="just">
              <a:defRPr/>
            </a:pPr>
            <a:endParaRPr lang="en-US" altLang="zh-TW" sz="2000" dirty="0" smtClean="0"/>
          </a:p>
          <a:p>
            <a:pPr lvl="1" algn="just">
              <a:defRPr/>
            </a:pPr>
            <a:endParaRPr lang="en-US" altLang="zh-TW" sz="2000" dirty="0" smtClean="0"/>
          </a:p>
          <a:p>
            <a:pPr lvl="1" algn="just">
              <a:defRPr/>
            </a:pPr>
            <a:endParaRPr lang="en-US" altLang="zh-TW" sz="2000" dirty="0" smtClean="0"/>
          </a:p>
          <a:p>
            <a:pPr lvl="1" algn="just">
              <a:defRPr/>
            </a:pPr>
            <a:r>
              <a:rPr lang="en-US" altLang="zh-TW" sz="2000" dirty="0" smtClean="0"/>
              <a:t>For each pixel </a:t>
            </a:r>
            <a:r>
              <a:rPr lang="en-US" altLang="zh-TW" sz="2000" i="1" dirty="0" smtClean="0"/>
              <a:t>S</a:t>
            </a:r>
            <a:r>
              <a:rPr lang="en-US" altLang="zh-TW" sz="2000" i="1" baseline="-25000" dirty="0" smtClean="0"/>
              <a:t>i</a:t>
            </a:r>
            <a:r>
              <a:rPr lang="en-US" altLang="zh-TW" sz="2000" dirty="0" smtClean="0"/>
              <a:t> in the rectangle, calculate</a:t>
            </a:r>
          </a:p>
          <a:p>
            <a:pPr marL="355600" indent="-355600"/>
            <a:r>
              <a:rPr lang="en-US" altLang="zh-TW" sz="2400" dirty="0" smtClean="0"/>
              <a:t>FES in total</a:t>
            </a:r>
            <a:endParaRPr lang="en-US" altLang="zh-TW" sz="2000" dirty="0" smtClean="0"/>
          </a:p>
          <a:p>
            <a:pPr lvl="1" algn="just"/>
            <a:endParaRPr lang="en-US" altLang="zh-TW" sz="2400" dirty="0" smtClean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Fitness Evaluation Score</a:t>
            </a:r>
            <a:endParaRPr lang="zh-TW" altLang="en-US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7126188" y="5020796"/>
            <a:ext cx="151216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16" y="2662312"/>
            <a:ext cx="3135036" cy="2039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</p:pic>
      <p:grpSp>
        <p:nvGrpSpPr>
          <p:cNvPr id="4" name="群組 32"/>
          <p:cNvGrpSpPr/>
          <p:nvPr/>
        </p:nvGrpSpPr>
        <p:grpSpPr>
          <a:xfrm rot="20828431">
            <a:off x="4405286" y="2699989"/>
            <a:ext cx="3744416" cy="1512168"/>
            <a:chOff x="5076056" y="3392617"/>
            <a:chExt cx="3744416" cy="1512168"/>
          </a:xfrm>
        </p:grpSpPr>
        <p:sp>
          <p:nvSpPr>
            <p:cNvPr id="30" name="矩形 29"/>
            <p:cNvSpPr/>
            <p:nvPr/>
          </p:nvSpPr>
          <p:spPr>
            <a:xfrm>
              <a:off x="5436096" y="3392617"/>
              <a:ext cx="3024336" cy="15121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5076056" y="4149080"/>
              <a:ext cx="3744416" cy="0"/>
            </a:xfrm>
            <a:prstGeom prst="line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群組 104"/>
          <p:cNvGrpSpPr/>
          <p:nvPr/>
        </p:nvGrpSpPr>
        <p:grpSpPr>
          <a:xfrm>
            <a:off x="5107810" y="2869828"/>
            <a:ext cx="2929080" cy="1195623"/>
            <a:chOff x="5611865" y="3132460"/>
            <a:chExt cx="2929080" cy="1195623"/>
          </a:xfrm>
        </p:grpSpPr>
        <p:cxnSp>
          <p:nvCxnSpPr>
            <p:cNvPr id="92" name="直線接點 91"/>
            <p:cNvCxnSpPr/>
            <p:nvPr/>
          </p:nvCxnSpPr>
          <p:spPr>
            <a:xfrm flipV="1">
              <a:off x="6134970" y="3526408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/>
            <p:cNvCxnSpPr/>
            <p:nvPr/>
          </p:nvCxnSpPr>
          <p:spPr>
            <a:xfrm flipV="1">
              <a:off x="5611865" y="3646294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/>
            <p:nvPr/>
          </p:nvCxnSpPr>
          <p:spPr>
            <a:xfrm flipV="1">
              <a:off x="7308304" y="3265934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 flipV="1">
              <a:off x="7812360" y="3132460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/>
            <p:cNvCxnSpPr/>
            <p:nvPr/>
          </p:nvCxnSpPr>
          <p:spPr>
            <a:xfrm flipV="1">
              <a:off x="5868144" y="4327004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/>
            <p:cNvCxnSpPr/>
            <p:nvPr/>
          </p:nvCxnSpPr>
          <p:spPr>
            <a:xfrm flipV="1">
              <a:off x="6372200" y="4214738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 flipV="1">
              <a:off x="7452320" y="3965885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/>
            <p:cNvCxnSpPr/>
            <p:nvPr/>
          </p:nvCxnSpPr>
          <p:spPr>
            <a:xfrm flipV="1">
              <a:off x="7975426" y="3848348"/>
              <a:ext cx="565519" cy="1079"/>
            </a:xfrm>
            <a:prstGeom prst="line">
              <a:avLst/>
            </a:prstGeom>
            <a:ln w="12700">
              <a:solidFill>
                <a:srgbClr val="3333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6341740" y="3304034"/>
              <a:ext cx="913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l-GR" altLang="zh-TW" sz="1400" b="1" i="1" dirty="0" smtClean="0">
                  <a:solidFill>
                    <a:srgbClr val="3333FF"/>
                  </a:solidFill>
                  <a:latin typeface="Times New Roman"/>
                  <a:cs typeface="Times New Roman"/>
                </a:rPr>
                <a:t>β</a:t>
              </a:r>
              <a:endParaRPr lang="zh-TW" altLang="en-US" b="1" i="1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6" name="群組 110"/>
          <p:cNvGrpSpPr/>
          <p:nvPr/>
        </p:nvGrpSpPr>
        <p:grpSpPr>
          <a:xfrm>
            <a:off x="4340771" y="3065680"/>
            <a:ext cx="3928689" cy="764127"/>
            <a:chOff x="4844826" y="3328312"/>
            <a:chExt cx="3928689" cy="764127"/>
          </a:xfrm>
        </p:grpSpPr>
        <p:cxnSp>
          <p:nvCxnSpPr>
            <p:cNvPr id="103" name="直線接點 102"/>
            <p:cNvCxnSpPr/>
            <p:nvPr/>
          </p:nvCxnSpPr>
          <p:spPr>
            <a:xfrm rot="20828431">
              <a:off x="4844826" y="3388233"/>
              <a:ext cx="3744416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 rot="20828431">
              <a:off x="5029099" y="4092439"/>
              <a:ext cx="3744416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字方塊 105"/>
            <p:cNvSpPr txBox="1"/>
            <p:nvPr/>
          </p:nvSpPr>
          <p:spPr>
            <a:xfrm>
              <a:off x="6632357" y="3328312"/>
              <a:ext cx="9938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l-GR" altLang="zh-TW" sz="1400" b="1" i="1" dirty="0" smtClean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α</a:t>
              </a:r>
              <a:endParaRPr lang="zh-TW" altLang="en-US" sz="1400" b="1" i="1" dirty="0">
                <a:solidFill>
                  <a:schemeClr val="accent5">
                    <a:lumMod val="75000"/>
                  </a:schemeClr>
                </a:solidFill>
                <a:latin typeface="+mj-lt"/>
              </a:endParaRPr>
            </a:p>
          </p:txBody>
        </p:sp>
      </p:grpSp>
      <p:sp>
        <p:nvSpPr>
          <p:cNvPr id="108" name="橢圓 107"/>
          <p:cNvSpPr/>
          <p:nvPr/>
        </p:nvSpPr>
        <p:spPr>
          <a:xfrm>
            <a:off x="6185742" y="339763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109"/>
          <p:cNvGrpSpPr/>
          <p:nvPr/>
        </p:nvGrpSpPr>
        <p:grpSpPr>
          <a:xfrm>
            <a:off x="4995541" y="2524646"/>
            <a:ext cx="2744812" cy="1574191"/>
            <a:chOff x="5499596" y="2787278"/>
            <a:chExt cx="2744812" cy="1574191"/>
          </a:xfrm>
        </p:grpSpPr>
        <p:sp>
          <p:nvSpPr>
            <p:cNvPr id="36" name="橢圓 35"/>
            <p:cNvSpPr/>
            <p:nvPr/>
          </p:nvSpPr>
          <p:spPr>
            <a:xfrm>
              <a:off x="5549632" y="361111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/>
            <p:cNvCxnSpPr>
              <a:stCxn id="36" idx="7"/>
            </p:cNvCxnSpPr>
            <p:nvPr/>
          </p:nvCxnSpPr>
          <p:spPr>
            <a:xfrm flipV="1">
              <a:off x="5611095" y="3251078"/>
              <a:ext cx="154561" cy="37058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橢圓 48"/>
            <p:cNvSpPr/>
            <p:nvPr/>
          </p:nvSpPr>
          <p:spPr>
            <a:xfrm>
              <a:off x="6094713" y="349148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0" name="直線單箭頭接點 49"/>
            <p:cNvCxnSpPr>
              <a:stCxn id="49" idx="7"/>
            </p:cNvCxnSpPr>
            <p:nvPr/>
          </p:nvCxnSpPr>
          <p:spPr>
            <a:xfrm flipV="1">
              <a:off x="6156176" y="3131443"/>
              <a:ext cx="370585" cy="3705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橢圓 51"/>
            <p:cNvSpPr/>
            <p:nvPr/>
          </p:nvSpPr>
          <p:spPr>
            <a:xfrm>
              <a:off x="7250985" y="323068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1"/>
            </p:cNvCxnSpPr>
            <p:nvPr/>
          </p:nvCxnSpPr>
          <p:spPr>
            <a:xfrm flipH="1" flipV="1">
              <a:off x="7034965" y="2942653"/>
              <a:ext cx="226565" cy="29857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橢圓 58"/>
            <p:cNvSpPr/>
            <p:nvPr/>
          </p:nvSpPr>
          <p:spPr>
            <a:xfrm>
              <a:off x="7775176" y="3090725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0" name="直線單箭頭接點 59"/>
            <p:cNvCxnSpPr>
              <a:stCxn id="59" idx="0"/>
            </p:cNvCxnSpPr>
            <p:nvPr/>
          </p:nvCxnSpPr>
          <p:spPr>
            <a:xfrm flipV="1">
              <a:off x="7811180" y="2787278"/>
              <a:ext cx="176946" cy="30344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/>
            <p:cNvSpPr/>
            <p:nvPr/>
          </p:nvSpPr>
          <p:spPr>
            <a:xfrm>
              <a:off x="7920372" y="3810248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8" name="直線單箭頭接點 67"/>
            <p:cNvCxnSpPr>
              <a:stCxn id="67" idx="7"/>
            </p:cNvCxnSpPr>
            <p:nvPr/>
          </p:nvCxnSpPr>
          <p:spPr>
            <a:xfrm flipV="1">
              <a:off x="7981835" y="3578809"/>
              <a:ext cx="262573" cy="24198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橢圓 70"/>
            <p:cNvSpPr/>
            <p:nvPr/>
          </p:nvSpPr>
          <p:spPr>
            <a:xfrm>
              <a:off x="7390857" y="393305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2" name="直線單箭頭接點 71"/>
            <p:cNvCxnSpPr>
              <a:stCxn id="71" idx="0"/>
            </p:cNvCxnSpPr>
            <p:nvPr/>
          </p:nvCxnSpPr>
          <p:spPr>
            <a:xfrm flipV="1">
              <a:off x="7426861" y="3629609"/>
              <a:ext cx="97467" cy="30344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橢圓 75"/>
            <p:cNvSpPr/>
            <p:nvPr/>
          </p:nvSpPr>
          <p:spPr>
            <a:xfrm>
              <a:off x="6302229" y="4177195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7" name="直線單箭頭接點 76"/>
            <p:cNvCxnSpPr>
              <a:stCxn id="76" idx="1"/>
            </p:cNvCxnSpPr>
            <p:nvPr/>
          </p:nvCxnSpPr>
          <p:spPr>
            <a:xfrm flipH="1" flipV="1">
              <a:off x="5965552" y="3886448"/>
              <a:ext cx="347222" cy="3012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橢圓 79"/>
            <p:cNvSpPr/>
            <p:nvPr/>
          </p:nvSpPr>
          <p:spPr>
            <a:xfrm>
              <a:off x="5813031" y="428946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單箭頭接點 80"/>
            <p:cNvCxnSpPr>
              <a:stCxn id="80" idx="1"/>
            </p:cNvCxnSpPr>
            <p:nvPr/>
          </p:nvCxnSpPr>
          <p:spPr>
            <a:xfrm flipH="1" flipV="1">
              <a:off x="5499596" y="4163938"/>
              <a:ext cx="323980" cy="1360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字方塊 108"/>
            <p:cNvSpPr txBox="1"/>
            <p:nvPr/>
          </p:nvSpPr>
          <p:spPr>
            <a:xfrm>
              <a:off x="6012160" y="3212976"/>
              <a:ext cx="13305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400" b="1" i="1" dirty="0" smtClean="0">
                  <a:solidFill>
                    <a:srgbClr val="FF0000"/>
                  </a:solidFill>
                  <a:latin typeface="+mj-lt"/>
                </a:rPr>
                <a:t>S</a:t>
              </a:r>
              <a:r>
                <a:rPr lang="en-US" altLang="zh-TW" sz="1400" b="1" i="1" baseline="-25000" dirty="0" smtClean="0">
                  <a:solidFill>
                    <a:srgbClr val="FF0000"/>
                  </a:solidFill>
                  <a:latin typeface="+mj-lt"/>
                </a:rPr>
                <a:t>i</a:t>
              </a:r>
              <a:endParaRPr lang="zh-TW" altLang="en-US" sz="1400" b="1" i="1" baseline="-25000" dirty="0">
                <a:solidFill>
                  <a:srgbClr val="FF0000"/>
                </a:solidFill>
                <a:latin typeface="+mj-lt"/>
              </a:endParaRPr>
            </a:p>
          </p:txBody>
        </p:sp>
      </p:grpSp>
      <p:grpSp>
        <p:nvGrpSpPr>
          <p:cNvPr id="9" name="群組 134"/>
          <p:cNvGrpSpPr/>
          <p:nvPr/>
        </p:nvGrpSpPr>
        <p:grpSpPr>
          <a:xfrm>
            <a:off x="5004047" y="2524771"/>
            <a:ext cx="2785547" cy="1591987"/>
            <a:chOff x="5508102" y="2787403"/>
            <a:chExt cx="2785547" cy="1591987"/>
          </a:xfrm>
        </p:grpSpPr>
        <p:cxnSp>
          <p:nvCxnSpPr>
            <p:cNvPr id="113" name="直線單箭頭接點 112"/>
            <p:cNvCxnSpPr/>
            <p:nvPr/>
          </p:nvCxnSpPr>
          <p:spPr>
            <a:xfrm flipH="1" flipV="1">
              <a:off x="6516216" y="3134618"/>
              <a:ext cx="72008" cy="288032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單箭頭接點 117"/>
            <p:cNvCxnSpPr/>
            <p:nvPr/>
          </p:nvCxnSpPr>
          <p:spPr>
            <a:xfrm flipH="1" flipV="1">
              <a:off x="5759053" y="3250059"/>
              <a:ext cx="80739" cy="322957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 flipH="1" flipV="1">
              <a:off x="7035924" y="2947169"/>
              <a:ext cx="80739" cy="322957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 flipH="1" flipV="1">
              <a:off x="7981554" y="2787403"/>
              <a:ext cx="70388" cy="281557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/>
            <p:nvPr/>
          </p:nvCxnSpPr>
          <p:spPr>
            <a:xfrm flipH="1" flipV="1">
              <a:off x="7514802" y="3635498"/>
              <a:ext cx="72008" cy="288032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單箭頭接點 128"/>
            <p:cNvCxnSpPr/>
            <p:nvPr/>
          </p:nvCxnSpPr>
          <p:spPr>
            <a:xfrm flipH="1" flipV="1">
              <a:off x="5508102" y="4163368"/>
              <a:ext cx="54004" cy="216022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單箭頭接點 131"/>
            <p:cNvCxnSpPr/>
            <p:nvPr/>
          </p:nvCxnSpPr>
          <p:spPr>
            <a:xfrm flipH="1" flipV="1">
              <a:off x="5961582" y="3879084"/>
              <a:ext cx="102311" cy="409250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133"/>
            <p:cNvCxnSpPr/>
            <p:nvPr/>
          </p:nvCxnSpPr>
          <p:spPr>
            <a:xfrm flipH="1" flipV="1">
              <a:off x="8239645" y="3558727"/>
              <a:ext cx="54004" cy="216022"/>
            </a:xfrm>
            <a:prstGeom prst="straightConnector1">
              <a:avLst/>
            </a:prstGeom>
            <a:ln w="12700">
              <a:solidFill>
                <a:srgbClr val="FFFFFF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直線接點 135"/>
          <p:cNvCxnSpPr/>
          <p:nvPr/>
        </p:nvCxnSpPr>
        <p:spPr>
          <a:xfrm flipV="1">
            <a:off x="5014843" y="3962345"/>
            <a:ext cx="2928618" cy="668564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字方塊 137"/>
          <p:cNvSpPr txBox="1"/>
          <p:nvPr/>
        </p:nvSpPr>
        <p:spPr>
          <a:xfrm rot="20857804">
            <a:off x="6407999" y="427691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L</a:t>
            </a:r>
            <a:endParaRPr lang="zh-TW" altLang="en-US" i="1" dirty="0"/>
          </a:p>
        </p:txBody>
      </p:sp>
      <p:cxnSp>
        <p:nvCxnSpPr>
          <p:cNvPr id="139" name="直線接點 138"/>
          <p:cNvCxnSpPr/>
          <p:nvPr/>
        </p:nvCxnSpPr>
        <p:spPr>
          <a:xfrm>
            <a:off x="4644009" y="3906940"/>
            <a:ext cx="144016" cy="62758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字方塊 140"/>
          <p:cNvSpPr txBox="1"/>
          <p:nvPr/>
        </p:nvSpPr>
        <p:spPr>
          <a:xfrm>
            <a:off x="4355977" y="406437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w</a:t>
            </a:r>
            <a:endParaRPr lang="zh-TW" altLang="en-US" i="1" dirty="0"/>
          </a:p>
        </p:txBody>
      </p:sp>
      <p:grpSp>
        <p:nvGrpSpPr>
          <p:cNvPr id="123" name="群組 122"/>
          <p:cNvGrpSpPr/>
          <p:nvPr/>
        </p:nvGrpSpPr>
        <p:grpSpPr>
          <a:xfrm>
            <a:off x="683569" y="5520736"/>
            <a:ext cx="3384375" cy="969250"/>
            <a:chOff x="971601" y="5360566"/>
            <a:chExt cx="3384375" cy="969250"/>
          </a:xfrm>
        </p:grpSpPr>
        <p:sp>
          <p:nvSpPr>
            <p:cNvPr id="79" name="文字方塊 78"/>
            <p:cNvSpPr txBox="1"/>
            <p:nvPr/>
          </p:nvSpPr>
          <p:spPr>
            <a:xfrm>
              <a:off x="1115616" y="5929706"/>
              <a:ext cx="3240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 smtClean="0">
                  <a:solidFill>
                    <a:schemeClr val="tx2"/>
                  </a:solidFill>
                  <a:latin typeface="+mj-lt"/>
                </a:rPr>
                <a:t>G</a:t>
              </a:r>
              <a:r>
                <a:rPr lang="en-US" altLang="zh-TW" sz="2000" baseline="-25000" dirty="0" smtClean="0">
                  <a:solidFill>
                    <a:schemeClr val="tx2"/>
                  </a:solidFill>
                  <a:latin typeface="+mj-lt"/>
                </a:rPr>
                <a:t>0</a:t>
              </a:r>
              <a:r>
                <a:rPr lang="en-US" altLang="zh-TW" sz="2000" i="1" baseline="-25000" dirty="0" smtClean="0">
                  <a:solidFill>
                    <a:schemeClr val="tx2"/>
                  </a:solidFill>
                  <a:latin typeface="+mj-lt"/>
                </a:rPr>
                <a:t>,w</a:t>
              </a:r>
              <a:r>
                <a:rPr lang="en-US" altLang="zh-TW" sz="2000" dirty="0" smtClean="0">
                  <a:solidFill>
                    <a:schemeClr val="tx2"/>
                  </a:solidFill>
                  <a:latin typeface="+mj-lt"/>
                </a:rPr>
                <a:t>(</a:t>
              </a:r>
              <a:r>
                <a:rPr lang="en-US" altLang="zh-TW" sz="2000" i="1" dirty="0" err="1" smtClean="0">
                  <a:solidFill>
                    <a:schemeClr val="tx2"/>
                  </a:solidFill>
                  <a:latin typeface="+mj-lt"/>
                </a:rPr>
                <a:t>d</a:t>
              </a:r>
              <a:r>
                <a:rPr lang="en-US" altLang="zh-TW" sz="2000" i="1" baseline="-25000" dirty="0" err="1" smtClean="0">
                  <a:solidFill>
                    <a:schemeClr val="tx2"/>
                  </a:solidFill>
                  <a:latin typeface="+mj-lt"/>
                </a:rPr>
                <a:t>i</a:t>
              </a:r>
              <a:r>
                <a:rPr lang="en-US" altLang="zh-TW" sz="2000" dirty="0" smtClean="0">
                  <a:solidFill>
                    <a:schemeClr val="tx2"/>
                  </a:solidFill>
                  <a:latin typeface="+mj-lt"/>
                </a:rPr>
                <a:t>) : Gaussian </a:t>
              </a:r>
              <a:r>
                <a:rPr lang="en-US" altLang="zh-TW" sz="2000" dirty="0" err="1" smtClean="0">
                  <a:solidFill>
                    <a:schemeClr val="tx2"/>
                  </a:solidFill>
                  <a:latin typeface="+mj-lt"/>
                </a:rPr>
                <a:t>distrib</a:t>
              </a:r>
              <a:r>
                <a:rPr lang="en-US" altLang="zh-TW" sz="2000" dirty="0" smtClean="0">
                  <a:solidFill>
                    <a:schemeClr val="tx2"/>
                  </a:solidFill>
                  <a:latin typeface="+mj-lt"/>
                </a:rPr>
                <a:t>.</a:t>
              </a:r>
              <a:endParaRPr lang="zh-TW" altLang="en-US" sz="2000" dirty="0" smtClean="0">
                <a:solidFill>
                  <a:schemeClr val="tx2"/>
                </a:solidFill>
                <a:latin typeface="+mj-lt"/>
              </a:endParaRPr>
            </a:p>
          </p:txBody>
        </p:sp>
        <p:graphicFrame>
          <p:nvGraphicFramePr>
            <p:cNvPr id="82" name="Object 2"/>
            <p:cNvGraphicFramePr>
              <a:graphicFrameLocks noChangeAspect="1"/>
            </p:cNvGraphicFramePr>
            <p:nvPr/>
          </p:nvGraphicFramePr>
          <p:xfrm>
            <a:off x="971601" y="5360566"/>
            <a:ext cx="2448271" cy="6377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354" name="Equation" r:id="rId5" imgW="1562100" imgH="406400" progId="Equation.DSMT4">
                    <p:embed/>
                  </p:oleObj>
                </mc:Choice>
                <mc:Fallback>
                  <p:oleObj name="Equation" r:id="rId5" imgW="1562100" imgH="406400" progId="Equation.DSMT4">
                    <p:embed/>
                    <p:pic>
                      <p:nvPicPr>
                        <p:cNvPr id="0" name="Picture 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1" y="5360566"/>
                          <a:ext cx="2448271" cy="6377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" name="群組 121"/>
          <p:cNvGrpSpPr/>
          <p:nvPr/>
        </p:nvGrpSpPr>
        <p:grpSpPr>
          <a:xfrm>
            <a:off x="8084037" y="2276872"/>
            <a:ext cx="1024467" cy="1460500"/>
            <a:chOff x="8084037" y="2539504"/>
            <a:chExt cx="1024467" cy="1460500"/>
          </a:xfrm>
        </p:grpSpPr>
        <p:cxnSp>
          <p:nvCxnSpPr>
            <p:cNvPr id="101" name="直線接點 100"/>
            <p:cNvCxnSpPr>
              <a:endCxn id="110" idx="2"/>
            </p:cNvCxnSpPr>
            <p:nvPr/>
          </p:nvCxnSpPr>
          <p:spPr>
            <a:xfrm flipV="1">
              <a:off x="8126788" y="3072904"/>
              <a:ext cx="954199" cy="215094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手繪多邊形 109"/>
            <p:cNvSpPr/>
            <p:nvPr/>
          </p:nvSpPr>
          <p:spPr>
            <a:xfrm>
              <a:off x="8084037" y="2539504"/>
              <a:ext cx="1024467" cy="1460500"/>
            </a:xfrm>
            <a:custGeom>
              <a:avLst/>
              <a:gdLst>
                <a:gd name="connsiteX0" fmla="*/ 0 w 1024467"/>
                <a:gd name="connsiteY0" fmla="*/ 0 h 1460500"/>
                <a:gd name="connsiteX1" fmla="*/ 317500 w 1024467"/>
                <a:gd name="connsiteY1" fmla="*/ 355600 h 1460500"/>
                <a:gd name="connsiteX2" fmla="*/ 996950 w 1024467"/>
                <a:gd name="connsiteY2" fmla="*/ 533400 h 1460500"/>
                <a:gd name="connsiteX3" fmla="*/ 482600 w 1024467"/>
                <a:gd name="connsiteY3" fmla="*/ 1066800 h 1460500"/>
                <a:gd name="connsiteX4" fmla="*/ 336550 w 1024467"/>
                <a:gd name="connsiteY4" fmla="*/ 1460500 h 146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4467" h="1460500">
                  <a:moveTo>
                    <a:pt x="0" y="0"/>
                  </a:moveTo>
                  <a:cubicBezTo>
                    <a:pt x="75671" y="133350"/>
                    <a:pt x="151342" y="266700"/>
                    <a:pt x="317500" y="355600"/>
                  </a:cubicBezTo>
                  <a:cubicBezTo>
                    <a:pt x="483658" y="444500"/>
                    <a:pt x="969433" y="414867"/>
                    <a:pt x="996950" y="533400"/>
                  </a:cubicBezTo>
                  <a:cubicBezTo>
                    <a:pt x="1024467" y="651933"/>
                    <a:pt x="592667" y="912284"/>
                    <a:pt x="482600" y="1066800"/>
                  </a:cubicBezTo>
                  <a:cubicBezTo>
                    <a:pt x="372533" y="1221316"/>
                    <a:pt x="354541" y="1340908"/>
                    <a:pt x="336550" y="1460500"/>
                  </a:cubicBezTo>
                </a:path>
              </a:pathLst>
            </a:cu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2" name="直線接點 111"/>
            <p:cNvCxnSpPr/>
            <p:nvPr/>
          </p:nvCxnSpPr>
          <p:spPr>
            <a:xfrm>
              <a:off x="8350324" y="2898614"/>
              <a:ext cx="72008" cy="288962"/>
            </a:xfrm>
            <a:prstGeom prst="line">
              <a:avLst/>
            </a:prstGeom>
            <a:ln w="12700"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字方塊 116"/>
            <p:cNvSpPr txBox="1"/>
            <p:nvPr/>
          </p:nvSpPr>
          <p:spPr>
            <a:xfrm>
              <a:off x="8153350" y="2917899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i="1" dirty="0" smtClean="0">
                  <a:latin typeface="+mj-lt"/>
                </a:rPr>
                <a:t>d</a:t>
              </a:r>
              <a:endParaRPr lang="zh-TW" altLang="en-US" sz="1400" i="1" dirty="0">
                <a:latin typeface="+mj-lt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8441588" y="2617167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i="1" dirty="0" smtClean="0">
                  <a:latin typeface="+mj-lt"/>
                </a:rPr>
                <a:t>G</a:t>
              </a:r>
              <a:r>
                <a:rPr lang="en-US" altLang="zh-TW" sz="1400" dirty="0" smtClean="0">
                  <a:latin typeface="+mj-lt"/>
                </a:rPr>
                <a:t>(</a:t>
              </a:r>
              <a:r>
                <a:rPr lang="en-US" altLang="zh-TW" sz="1400" i="1" dirty="0" smtClean="0">
                  <a:latin typeface="+mj-lt"/>
                </a:rPr>
                <a:t>d</a:t>
              </a:r>
              <a:r>
                <a:rPr lang="en-US" altLang="zh-TW" sz="1400" dirty="0" smtClean="0">
                  <a:latin typeface="+mj-lt"/>
                </a:rPr>
                <a:t>)</a:t>
              </a:r>
              <a:endParaRPr lang="zh-TW" altLang="en-US" sz="1400" dirty="0">
                <a:latin typeface="+mj-lt"/>
              </a:endParaRPr>
            </a:p>
          </p:txBody>
        </p:sp>
      </p:grp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5124314" y="5517232"/>
          <a:ext cx="1895958" cy="644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55" name="Equation" r:id="rId7" imgW="1155700" imgH="393700" progId="Equation.DSMT4">
                  <p:embed/>
                </p:oleObj>
              </mc:Choice>
              <mc:Fallback>
                <p:oleObj name="Equation" r:id="rId7" imgW="1155700" imgH="393700" progId="Equation.DSMT4">
                  <p:embed/>
                  <p:pic>
                    <p:nvPicPr>
                      <p:cNvPr id="0" name="Picture 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314" y="5517232"/>
                        <a:ext cx="1895958" cy="6446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向右箭號 77"/>
          <p:cNvSpPr/>
          <p:nvPr/>
        </p:nvSpPr>
        <p:spPr>
          <a:xfrm>
            <a:off x="3890020" y="5551912"/>
            <a:ext cx="504056" cy="360040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6" name="群組 165"/>
          <p:cNvGrpSpPr/>
          <p:nvPr/>
        </p:nvGrpSpPr>
        <p:grpSpPr>
          <a:xfrm>
            <a:off x="1240017" y="3065782"/>
            <a:ext cx="2827927" cy="1247951"/>
            <a:chOff x="1076949" y="3328414"/>
            <a:chExt cx="2827927" cy="1247951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85" name="橢圓 84"/>
            <p:cNvSpPr/>
            <p:nvPr/>
          </p:nvSpPr>
          <p:spPr>
            <a:xfrm>
              <a:off x="1576242" y="341947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1413174" y="3491482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1240580" y="3582542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橢圓 87"/>
            <p:cNvSpPr/>
            <p:nvPr/>
          </p:nvSpPr>
          <p:spPr>
            <a:xfrm>
              <a:off x="1250669" y="3674165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1076949" y="379856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1250106" y="400030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1510123" y="4072309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1772651" y="4144317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/>
            <p:cNvSpPr/>
            <p:nvPr/>
          </p:nvSpPr>
          <p:spPr>
            <a:xfrm>
              <a:off x="2032668" y="4216325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橢圓 113"/>
            <p:cNvSpPr/>
            <p:nvPr/>
          </p:nvSpPr>
          <p:spPr>
            <a:xfrm>
              <a:off x="2302211" y="428833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橢圓 114"/>
            <p:cNvSpPr/>
            <p:nvPr/>
          </p:nvSpPr>
          <p:spPr>
            <a:xfrm>
              <a:off x="2562228" y="436034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橢圓 115"/>
            <p:cNvSpPr/>
            <p:nvPr/>
          </p:nvSpPr>
          <p:spPr>
            <a:xfrm>
              <a:off x="2824756" y="4432349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4" name="橢圓 123"/>
            <p:cNvSpPr/>
            <p:nvPr/>
          </p:nvSpPr>
          <p:spPr>
            <a:xfrm>
              <a:off x="3084773" y="4504357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橢圓 124"/>
            <p:cNvSpPr/>
            <p:nvPr/>
          </p:nvSpPr>
          <p:spPr>
            <a:xfrm>
              <a:off x="1817207" y="378904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橢圓 125"/>
            <p:cNvSpPr/>
            <p:nvPr/>
          </p:nvSpPr>
          <p:spPr>
            <a:xfrm>
              <a:off x="2077224" y="3861048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橢圓 126"/>
            <p:cNvSpPr/>
            <p:nvPr/>
          </p:nvSpPr>
          <p:spPr>
            <a:xfrm>
              <a:off x="2339752" y="393305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橢圓 129"/>
            <p:cNvSpPr/>
            <p:nvPr/>
          </p:nvSpPr>
          <p:spPr>
            <a:xfrm>
              <a:off x="2599769" y="400506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橢圓 130"/>
            <p:cNvSpPr/>
            <p:nvPr/>
          </p:nvSpPr>
          <p:spPr>
            <a:xfrm>
              <a:off x="1460225" y="370750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橢圓 132"/>
            <p:cNvSpPr/>
            <p:nvPr/>
          </p:nvSpPr>
          <p:spPr>
            <a:xfrm>
              <a:off x="3093736" y="412412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5" name="橢圓 134"/>
            <p:cNvSpPr/>
            <p:nvPr/>
          </p:nvSpPr>
          <p:spPr>
            <a:xfrm>
              <a:off x="3290145" y="436510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橢圓 136"/>
            <p:cNvSpPr/>
            <p:nvPr/>
          </p:nvSpPr>
          <p:spPr>
            <a:xfrm>
              <a:off x="3832868" y="4043168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0" name="橢圓 139"/>
            <p:cNvSpPr/>
            <p:nvPr/>
          </p:nvSpPr>
          <p:spPr>
            <a:xfrm>
              <a:off x="3635896" y="379380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2" name="橢圓 141"/>
            <p:cNvSpPr/>
            <p:nvPr/>
          </p:nvSpPr>
          <p:spPr>
            <a:xfrm>
              <a:off x="3731719" y="390924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3" name="橢圓 142"/>
            <p:cNvSpPr/>
            <p:nvPr/>
          </p:nvSpPr>
          <p:spPr>
            <a:xfrm>
              <a:off x="3573414" y="400506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4" name="橢圓 143"/>
            <p:cNvSpPr/>
            <p:nvPr/>
          </p:nvSpPr>
          <p:spPr>
            <a:xfrm>
              <a:off x="3400820" y="411041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0" name="橢圓 149"/>
            <p:cNvSpPr/>
            <p:nvPr/>
          </p:nvSpPr>
          <p:spPr>
            <a:xfrm>
              <a:off x="3765623" y="424546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1" name="橢圓 150"/>
            <p:cNvSpPr/>
            <p:nvPr/>
          </p:nvSpPr>
          <p:spPr>
            <a:xfrm>
              <a:off x="3607318" y="4341289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2" name="橢圓 151"/>
            <p:cNvSpPr/>
            <p:nvPr/>
          </p:nvSpPr>
          <p:spPr>
            <a:xfrm>
              <a:off x="3434724" y="4446638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3" name="橢圓 152"/>
            <p:cNvSpPr/>
            <p:nvPr/>
          </p:nvSpPr>
          <p:spPr>
            <a:xfrm>
              <a:off x="2796178" y="3865811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4" name="橢圓 153"/>
            <p:cNvSpPr/>
            <p:nvPr/>
          </p:nvSpPr>
          <p:spPr>
            <a:xfrm>
              <a:off x="3293766" y="3592068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5" name="橢圓 154"/>
            <p:cNvSpPr/>
            <p:nvPr/>
          </p:nvSpPr>
          <p:spPr>
            <a:xfrm>
              <a:off x="3025928" y="351053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橢圓 155"/>
            <p:cNvSpPr/>
            <p:nvPr/>
          </p:nvSpPr>
          <p:spPr>
            <a:xfrm>
              <a:off x="2853334" y="361588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7" name="橢圓 156"/>
            <p:cNvSpPr/>
            <p:nvPr/>
          </p:nvSpPr>
          <p:spPr>
            <a:xfrm>
              <a:off x="2301085" y="332841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橢圓 157"/>
            <p:cNvSpPr/>
            <p:nvPr/>
          </p:nvSpPr>
          <p:spPr>
            <a:xfrm>
              <a:off x="2128491" y="343376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9" name="橢圓 158"/>
            <p:cNvSpPr/>
            <p:nvPr/>
          </p:nvSpPr>
          <p:spPr>
            <a:xfrm>
              <a:off x="1807118" y="338557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0" name="橢圓 159"/>
            <p:cNvSpPr/>
            <p:nvPr/>
          </p:nvSpPr>
          <p:spPr>
            <a:xfrm>
              <a:off x="2221240" y="357301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1" name="橢圓 160"/>
            <p:cNvSpPr/>
            <p:nvPr/>
          </p:nvSpPr>
          <p:spPr>
            <a:xfrm>
              <a:off x="2483768" y="3645024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橢圓 162"/>
            <p:cNvSpPr/>
            <p:nvPr/>
          </p:nvSpPr>
          <p:spPr>
            <a:xfrm>
              <a:off x="2867623" y="338557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2" name="直線接點 11"/>
          <p:cNvCxnSpPr/>
          <p:nvPr/>
        </p:nvCxnSpPr>
        <p:spPr>
          <a:xfrm flipV="1">
            <a:off x="2304037" y="3033238"/>
            <a:ext cx="432048" cy="123441"/>
          </a:xfrm>
          <a:prstGeom prst="line">
            <a:avLst/>
          </a:prstGeom>
          <a:ln w="25400">
            <a:solidFill>
              <a:srgbClr val="00FF00"/>
            </a:solidFill>
            <a:prstDash val="sysDash"/>
          </a:ln>
          <a:scene3d>
            <a:camera prst="orthographicFront">
              <a:rot lat="0" lon="0" rev="2142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 rot="20773707">
            <a:off x="2349266" y="2979627"/>
            <a:ext cx="340986" cy="221344"/>
          </a:xfrm>
          <a:prstGeom prst="rect">
            <a:avLst/>
          </a:prstGeom>
          <a:noFill/>
          <a:ln>
            <a:solidFill>
              <a:srgbClr val="3333FF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2" name="橢圓 161"/>
          <p:cNvSpPr/>
          <p:nvPr/>
        </p:nvSpPr>
        <p:spPr>
          <a:xfrm>
            <a:off x="2488530" y="3058073"/>
            <a:ext cx="72008" cy="7200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9" name="群組 168"/>
          <p:cNvGrpSpPr/>
          <p:nvPr/>
        </p:nvGrpSpPr>
        <p:grpSpPr>
          <a:xfrm>
            <a:off x="1996379" y="2861668"/>
            <a:ext cx="736747" cy="503528"/>
            <a:chOff x="1996379" y="3124300"/>
            <a:chExt cx="736747" cy="503528"/>
          </a:xfrm>
        </p:grpSpPr>
        <p:grpSp>
          <p:nvGrpSpPr>
            <p:cNvPr id="83" name="群組 82"/>
            <p:cNvGrpSpPr/>
            <p:nvPr/>
          </p:nvGrpSpPr>
          <p:grpSpPr>
            <a:xfrm>
              <a:off x="2345904" y="3124300"/>
              <a:ext cx="387222" cy="424165"/>
              <a:chOff x="2673588" y="3207063"/>
              <a:chExt cx="387222" cy="424165"/>
            </a:xfrm>
            <a:scene3d>
              <a:camera prst="orthographicFront">
                <a:rot lat="0" lon="10800000" rev="0"/>
              </a:camera>
              <a:lightRig rig="threePt" dir="t"/>
            </a:scene3d>
          </p:grpSpPr>
          <p:cxnSp>
            <p:nvCxnSpPr>
              <p:cNvPr id="29" name="直線單箭頭接點 28"/>
              <p:cNvCxnSpPr/>
              <p:nvPr/>
            </p:nvCxnSpPr>
            <p:spPr>
              <a:xfrm flipH="1">
                <a:off x="2975454" y="3281706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單箭頭接點 43"/>
              <p:cNvCxnSpPr/>
              <p:nvPr/>
            </p:nvCxnSpPr>
            <p:spPr>
              <a:xfrm flipH="1">
                <a:off x="2673588" y="3207063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44"/>
              <p:cNvCxnSpPr/>
              <p:nvPr/>
            </p:nvCxnSpPr>
            <p:spPr>
              <a:xfrm flipH="1">
                <a:off x="2748232" y="3223519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單箭頭接點 45"/>
              <p:cNvCxnSpPr/>
              <p:nvPr/>
            </p:nvCxnSpPr>
            <p:spPr>
              <a:xfrm flipH="1">
                <a:off x="2822875" y="3243924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46"/>
              <p:cNvCxnSpPr/>
              <p:nvPr/>
            </p:nvCxnSpPr>
            <p:spPr>
              <a:xfrm flipH="1">
                <a:off x="2897519" y="3263672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5" name="直線接點 144"/>
            <p:cNvCxnSpPr/>
            <p:nvPr/>
          </p:nvCxnSpPr>
          <p:spPr>
            <a:xfrm flipV="1">
              <a:off x="1996379" y="3295273"/>
              <a:ext cx="720080" cy="200973"/>
            </a:xfrm>
            <a:prstGeom prst="line">
              <a:avLst/>
            </a:prstGeom>
            <a:ln w="25400">
              <a:solidFill>
                <a:srgbClr val="00FF00"/>
              </a:solidFill>
              <a:prstDash val="sysDash"/>
            </a:ln>
            <a:scene3d>
              <a:camera prst="orthographicFront">
                <a:rot lat="0" lon="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群組 147"/>
            <p:cNvGrpSpPr/>
            <p:nvPr/>
          </p:nvGrpSpPr>
          <p:grpSpPr>
            <a:xfrm>
              <a:off x="2037434" y="3220119"/>
              <a:ext cx="312578" cy="407709"/>
              <a:chOff x="2748232" y="3223519"/>
              <a:chExt cx="312578" cy="407709"/>
            </a:xfrm>
            <a:scene3d>
              <a:camera prst="orthographicFront">
                <a:rot lat="0" lon="10800000" rev="0"/>
              </a:camera>
              <a:lightRig rig="threePt" dir="t"/>
            </a:scene3d>
          </p:grpSpPr>
          <p:cxnSp>
            <p:nvCxnSpPr>
              <p:cNvPr id="149" name="直線單箭頭接點 148"/>
              <p:cNvCxnSpPr/>
              <p:nvPr/>
            </p:nvCxnSpPr>
            <p:spPr>
              <a:xfrm flipH="1">
                <a:off x="2975454" y="3281706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線單箭頭接點 164"/>
              <p:cNvCxnSpPr/>
              <p:nvPr/>
            </p:nvCxnSpPr>
            <p:spPr>
              <a:xfrm flipH="1">
                <a:off x="2748232" y="3223519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線單箭頭接點 166"/>
              <p:cNvCxnSpPr/>
              <p:nvPr/>
            </p:nvCxnSpPr>
            <p:spPr>
              <a:xfrm flipH="1">
                <a:off x="2822875" y="3243924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線單箭頭接點 167"/>
              <p:cNvCxnSpPr/>
              <p:nvPr/>
            </p:nvCxnSpPr>
            <p:spPr>
              <a:xfrm flipH="1">
                <a:off x="2897519" y="3263672"/>
                <a:ext cx="85356" cy="349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46" name="Object 2"/>
          <p:cNvGraphicFramePr>
            <a:graphicFrameLocks noChangeAspect="1"/>
          </p:cNvGraphicFramePr>
          <p:nvPr/>
        </p:nvGraphicFramePr>
        <p:xfrm>
          <a:off x="5760789" y="4737844"/>
          <a:ext cx="2974975" cy="32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56" name="Equation" r:id="rId9" imgW="2235200" imgH="241300" progId="Equation.DSMT4">
                  <p:embed/>
                </p:oleObj>
              </mc:Choice>
              <mc:Fallback>
                <p:oleObj name="Equation" r:id="rId9" imgW="2235200" imgH="241300" progId="Equation.DSMT4">
                  <p:embed/>
                  <p:pic>
                    <p:nvPicPr>
                      <p:cNvPr id="0" name="Picture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0789" y="4737844"/>
                        <a:ext cx="2974975" cy="320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" name="文字方塊 163"/>
          <p:cNvSpPr txBox="1"/>
          <p:nvPr/>
        </p:nvSpPr>
        <p:spPr>
          <a:xfrm>
            <a:off x="4860032" y="6084004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the higher FES means  the better fitting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4" grpId="0" animBg="1"/>
      <p:bldP spid="162" grpId="0" animBg="1"/>
      <p:bldP spid="1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front and rear parts of the car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Once 3D model is generated, extract the front and rear parts of the car.</a:t>
            </a:r>
          </a:p>
          <a:p>
            <a:r>
              <a:rPr lang="en-US" dirty="0" smtClean="0"/>
              <a:t>Orientation of the extracted part may not be good for viewing.</a:t>
            </a:r>
          </a:p>
          <a:p>
            <a:r>
              <a:rPr lang="en-US" dirty="0" smtClean="0"/>
              <a:t>Re-orient the extracted part for better visual experience.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4869160"/>
            <a:ext cx="1232018" cy="9929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85" y="4312529"/>
            <a:ext cx="2808312" cy="21062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393" y="4695571"/>
            <a:ext cx="1080120" cy="1340149"/>
          </a:xfrm>
          <a:prstGeom prst="rect">
            <a:avLst/>
          </a:prstGeom>
        </p:spPr>
      </p:pic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>
            <a:off x="3401597" y="5365646"/>
            <a:ext cx="1267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  <a:endCxn id="5" idx="1"/>
          </p:cNvCxnSpPr>
          <p:nvPr/>
        </p:nvCxnSpPr>
        <p:spPr>
          <a:xfrm flipV="1">
            <a:off x="5749513" y="5365645"/>
            <a:ext cx="134276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85263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Detected car with 3D model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779912" y="6186090"/>
            <a:ext cx="2448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Extracted rear panel</a:t>
            </a:r>
          </a:p>
          <a:p>
            <a:pPr algn="ctr"/>
            <a:r>
              <a:rPr lang="en-US" dirty="0" smtClean="0"/>
              <a:t>(not good for viewing)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87521" y="5824206"/>
            <a:ext cx="246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Re-oriented extracted </a:t>
            </a:r>
          </a:p>
          <a:p>
            <a:pPr algn="ctr"/>
            <a:r>
              <a:rPr lang="en-US" dirty="0" smtClean="0"/>
              <a:t>rear panel</a:t>
            </a:r>
          </a:p>
        </p:txBody>
      </p:sp>
    </p:spTree>
    <p:extLst>
      <p:ext uri="{BB962C8B-B14F-4D97-AF65-F5344CB8AC3E}">
        <p14:creationId xmlns:p14="http://schemas.microsoft.com/office/powerpoint/2010/main" val="295761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031" y="5228381"/>
            <a:ext cx="1028850" cy="8018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045" y="1930077"/>
            <a:ext cx="1632181" cy="1224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400" y="5331737"/>
            <a:ext cx="1069197" cy="6985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836" y="1930077"/>
            <a:ext cx="1672329" cy="12542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806" y="5331737"/>
            <a:ext cx="1042953" cy="7859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117" y="1902929"/>
            <a:ext cx="1672329" cy="125424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388" y="3444045"/>
            <a:ext cx="1043493" cy="1523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323" y="3444045"/>
            <a:ext cx="995353" cy="1523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211" y="3444045"/>
            <a:ext cx="1148144" cy="15235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168344" y="3284984"/>
            <a:ext cx="8856984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79512" y="5085184"/>
            <a:ext cx="8856984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475656" y="1772816"/>
            <a:ext cx="0" cy="4536504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4296" y="2074877"/>
            <a:ext cx="10421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Frame with 3D model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142345" y="3704946"/>
            <a:ext cx="1241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Extracted rear part (before correction)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188098" y="5157091"/>
            <a:ext cx="1241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Extracted rear part (after correction)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6437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AE02-177E-4DA9-8353-72952B592B7D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87" y="1625412"/>
            <a:ext cx="2377440" cy="13373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87" y="3103350"/>
            <a:ext cx="2377440" cy="149597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47" y="1625412"/>
            <a:ext cx="2377440" cy="133731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947" y="3103351"/>
            <a:ext cx="2377440" cy="14959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522" y="1625412"/>
            <a:ext cx="2377440" cy="13373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207" y="3103350"/>
            <a:ext cx="2377440" cy="14959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87" y="4789692"/>
            <a:ext cx="2377440" cy="14925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947" y="4788843"/>
            <a:ext cx="2377440" cy="14942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522" y="4803288"/>
            <a:ext cx="2377440" cy="149815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043608" y="1625412"/>
            <a:ext cx="0" cy="465855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79512" y="3068960"/>
            <a:ext cx="8856984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79512" y="4653136"/>
            <a:ext cx="8856984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558" y="1890650"/>
            <a:ext cx="10421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Frame with 3D model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0" y="3431928"/>
            <a:ext cx="1063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Extracted rear part </a:t>
            </a:r>
          </a:p>
          <a:p>
            <a:pPr algn="ctr"/>
            <a:r>
              <a:rPr lang="en-US" sz="1400" dirty="0" smtClean="0"/>
              <a:t>(after correction)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10778" y="4920238"/>
            <a:ext cx="10637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Extracted rear part </a:t>
            </a:r>
          </a:p>
          <a:p>
            <a:pPr algn="ctr"/>
            <a:r>
              <a:rPr lang="en-US" sz="1400" dirty="0" smtClean="0"/>
              <a:t>(after correction) + offset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313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UW">
      <a:dk1>
        <a:srgbClr val="000000"/>
      </a:dk1>
      <a:lt1>
        <a:srgbClr val="FFFFFF"/>
      </a:lt1>
      <a:dk2>
        <a:srgbClr val="443561"/>
      </a:dk2>
      <a:lt2>
        <a:srgbClr val="FFFFFF"/>
      </a:lt2>
      <a:accent1>
        <a:srgbClr val="53548A"/>
      </a:accent1>
      <a:accent2>
        <a:srgbClr val="D7A965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W">
      <a:majorFont>
        <a:latin typeface="Times New Roman"/>
        <a:ea typeface="微軟正黑體"/>
        <a:cs typeface=""/>
      </a:majorFont>
      <a:minorFont>
        <a:latin typeface="Georgia"/>
        <a:ea typeface="新細明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>
        <a:solidFill>
          <a:srgbClr val="B3B4D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64211</TotalTime>
  <Words>654</Words>
  <Application>Microsoft Office PowerPoint</Application>
  <PresentationFormat>On-screen Show (4:3)</PresentationFormat>
  <Paragraphs>126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微軟正黑體</vt:lpstr>
      <vt:lpstr>新細明體</vt:lpstr>
      <vt:lpstr>宋体</vt:lpstr>
      <vt:lpstr>Calibri</vt:lpstr>
      <vt:lpstr>Georgia</vt:lpstr>
      <vt:lpstr>Lucida Calligraphy</vt:lpstr>
      <vt:lpstr>Times New Roman</vt:lpstr>
      <vt:lpstr>Wingdings 2</vt:lpstr>
      <vt:lpstr>都會</vt:lpstr>
      <vt:lpstr>Equation</vt:lpstr>
      <vt:lpstr>3D Car Modeling</vt:lpstr>
      <vt:lpstr>Overview</vt:lpstr>
      <vt:lpstr>Determine ROI</vt:lpstr>
      <vt:lpstr>3-D Vehicle Modeling[Zhang et al. ‘12]</vt:lpstr>
      <vt:lpstr>3D Vehicle Modeling[Zhang et al. ‘12]</vt:lpstr>
      <vt:lpstr>Fitness Evaluation Score</vt:lpstr>
      <vt:lpstr>Extract front and rear parts of the car</vt:lpstr>
      <vt:lpstr>Results</vt:lpstr>
      <vt:lpstr>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Young</dc:creator>
  <cp:lastModifiedBy>Jenq-Neng Hwang</cp:lastModifiedBy>
  <cp:revision>2273</cp:revision>
  <dcterms:created xsi:type="dcterms:W3CDTF">2011-05-23T07:03:01Z</dcterms:created>
  <dcterms:modified xsi:type="dcterms:W3CDTF">2015-11-04T19:29:54Z</dcterms:modified>
</cp:coreProperties>
</file>